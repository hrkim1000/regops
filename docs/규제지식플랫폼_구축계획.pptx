
<file path=[Content_Types].xml><?xml version="1.0" encoding="utf-8"?>
<Types xmlns="http://schemas.openxmlformats.org/package/2006/content-types"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charts/chart1.xml" ContentType="application/vnd.openxmlformats-officedocument.drawingml.chart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charts/chart2.xml" ContentType="application/vnd.openxmlformats-officedocument.drawingml.chart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9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CAD25C23-6698-4CEC-AFC0-C8953A3F56A8}" v="1" dt="2026-07-28T05:50:51.611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42" d="100"/>
          <a:sy n="142" d="100"/>
        </p:scale>
        <p:origin x="150" y="49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microsoft.com/office/2015/10/relationships/revisionInfo" Target="revisionInfo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microsoft.com/office/2016/11/relationships/changesInfo" Target="changesInfos/changesInfo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혜란 김" userId="0f951d3ec255b675" providerId="LiveId" clId="{41680B25-45DF-45A4-B2E7-264CD406C50C}"/>
    <pc:docChg chg="modSld">
      <pc:chgData name="혜란 김" userId="0f951d3ec255b675" providerId="LiveId" clId="{41680B25-45DF-45A4-B2E7-264CD406C50C}" dt="2026-07-28T05:51:06.631" v="40" actId="6549"/>
      <pc:docMkLst>
        <pc:docMk/>
      </pc:docMkLst>
      <pc:sldChg chg="modSp mod">
        <pc:chgData name="혜란 김" userId="0f951d3ec255b675" providerId="LiveId" clId="{41680B25-45DF-45A4-B2E7-264CD406C50C}" dt="2026-07-28T05:51:06.631" v="40" actId="6549"/>
        <pc:sldMkLst>
          <pc:docMk/>
          <pc:sldMk cId="0" sldId="256"/>
        </pc:sldMkLst>
        <pc:spChg chg="mod">
          <ac:chgData name="혜란 김" userId="0f951d3ec255b675" providerId="LiveId" clId="{41680B25-45DF-45A4-B2E7-264CD406C50C}" dt="2026-07-28T05:51:06.631" v="40" actId="6549"/>
          <ac:spMkLst>
            <pc:docMk/>
            <pc:sldMk cId="0" sldId="256"/>
            <ac:spMk id="6" creationId="{00000000-0000-0000-0000-000000000000}"/>
          </ac:spMkLst>
        </pc:spChg>
      </pc:sldChg>
    </pc:docChg>
  </pc:docChgLst>
</pc:chgInfo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_rels/chart2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ko-KR"/>
  <c:roundedCorners val="1"/>
  <c:style val="2"/>
  <c:chart>
    <c:title>
      <c:tx>
        <c:rich>
          <a:bodyPr/>
          <a:lstStyle/>
          <a:p>
            <a:pPr>
              <a:defRPr sz="1300" b="0" i="0" u="none" strike="noStrike">
                <a:solidFill>
                  <a:srgbClr val="16292B"/>
                </a:solidFill>
                <a:latin typeface="Malgun Gothic"/>
              </a:defRPr>
            </a:pPr>
            <a:r>
              <a:rPr sz="1300" b="0" i="0" u="none" strike="noStrike">
                <a:solidFill>
                  <a:srgbClr val="16292B"/>
                </a:solidFill>
                <a:latin typeface="Malgun Gothic"/>
              </a:rPr>
              <a:t>시장 규모 (단위: 십억 달러)</a:t>
            </a:r>
          </a:p>
        </c:rich>
      </c:tx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2025년</c:v>
                </c:pt>
              </c:strCache>
            </c:strRef>
          </c:tx>
          <c:spPr>
            <a:solidFill>
              <a:srgbClr val="028090"/>
            </a:solidFill>
            <a:effectLst/>
          </c:spPr>
          <c:invertIfNegative val="0"/>
          <c:dLbls>
            <c:numFmt formatCode="0.0&quot;B&quot;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000" b="0" i="0" u="none" strike="noStrike">
                    <a:solidFill>
                      <a:srgbClr val="16292B"/>
                    </a:solidFill>
                    <a:latin typeface="Malgun Gothic"/>
                  </a:defRPr>
                </a:pPr>
                <a:endParaRPr lang="ko-KR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Sheet1!$A$2:$A$4</c:f>
              <c:strCache>
                <c:ptCount val="3"/>
                <c:pt idx="0">
                  <c:v>RIM 소프트웨어</c:v>
                </c:pt>
                <c:pt idx="1">
                  <c:v>AI 규제업무</c:v>
                </c:pt>
                <c:pt idx="2">
                  <c:v>규제 아웃소싱(서비스)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2.5</c:v>
                </c:pt>
                <c:pt idx="1">
                  <c:v>1.8</c:v>
                </c:pt>
                <c:pt idx="2">
                  <c:v>4.3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FEF0-4D15-9F1D-CB7E07DB4C38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2030년 전망</c:v>
                </c:pt>
              </c:strCache>
            </c:strRef>
          </c:tx>
          <c:spPr>
            <a:solidFill>
              <a:srgbClr val="00A896"/>
            </a:solidFill>
            <a:effectLst/>
          </c:spPr>
          <c:invertIfNegative val="0"/>
          <c:dLbls>
            <c:numFmt formatCode="0.0&quot;B&quot;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000" b="0" i="0" u="none" strike="noStrike">
                    <a:solidFill>
                      <a:srgbClr val="16292B"/>
                    </a:solidFill>
                    <a:latin typeface="Malgun Gothic"/>
                  </a:defRPr>
                </a:pPr>
                <a:endParaRPr lang="ko-KR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Sheet1!$A$2:$A$4</c:f>
              <c:strCache>
                <c:ptCount val="3"/>
                <c:pt idx="0">
                  <c:v>RIM 소프트웨어</c:v>
                </c:pt>
                <c:pt idx="1">
                  <c:v>AI 규제업무</c:v>
                </c:pt>
                <c:pt idx="2">
                  <c:v>규제 아웃소싱(서비스)</c:v>
                </c:pt>
              </c:strCache>
            </c:strRef>
          </c:cat>
          <c:val>
            <c:numRef>
              <c:f>Sheet1!$C$2:$C$4</c:f>
              <c:numCache>
                <c:formatCode>General</c:formatCode>
                <c:ptCount val="3"/>
                <c:pt idx="0">
                  <c:v>3.9</c:v>
                </c:pt>
                <c:pt idx="1">
                  <c:v>4.5999999999999996</c:v>
                </c:pt>
                <c:pt idx="2">
                  <c:v>5.9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FEF0-4D15-9F1D-CB7E07DB4C38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6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5E7B7E"/>
                </a:solidFill>
                <a:latin typeface="Malgun Gothic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ax val="7"/>
        </c:scaling>
        <c:delete val="0"/>
        <c:axPos val="l"/>
        <c:majorGridlines>
          <c:spPr>
            <a:ln w="12700" cap="flat">
              <a:solidFill>
                <a:srgbClr val="E4EDED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5E7B7E"/>
                </a:solidFill>
                <a:latin typeface="Malgun Gothic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000">
              <a:solidFill>
                <a:srgbClr val="5E7B7E"/>
              </a:solidFill>
              <a:latin typeface="Malgun Gothic"/>
              <a:cs typeface="Malgun Gothic"/>
            </a:defRPr>
          </a:pPr>
          <a:endParaRPr lang="en-US"/>
        </a:p>
      </c:txPr>
    </c:legend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ko-KR"/>
  <c:roundedCorners val="1"/>
  <c:style val="2"/>
  <c:chart>
    <c:title>
      <c:tx>
        <c:rich>
          <a:bodyPr/>
          <a:lstStyle/>
          <a:p>
            <a:pPr>
              <a:defRPr sz="1300" b="0" i="0" u="none" strike="noStrike">
                <a:solidFill>
                  <a:srgbClr val="16292B"/>
                </a:solidFill>
                <a:latin typeface="Malgun Gothic"/>
              </a:defRPr>
            </a:pPr>
            <a:r>
              <a:rPr sz="1300" b="0" i="0" u="none" strike="noStrike">
                <a:solidFill>
                  <a:srgbClr val="16292B"/>
                </a:solidFill>
                <a:latin typeface="Malgun Gothic"/>
              </a:rPr>
              <a:t>단계별 투자 규모 (단위: 억 원)</a:t>
            </a:r>
          </a:p>
        </c:rich>
      </c:tx>
      <c:overlay val="0"/>
    </c:title>
    <c:autoTitleDeleted val="0"/>
    <c:plotArea>
      <c:layout/>
      <c:barChart>
        <c:barDir val="col"/>
        <c:grouping val="stack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인건비</c:v>
                </c:pt>
              </c:strCache>
            </c:strRef>
          </c:tx>
          <c:spPr>
            <a:solidFill>
              <a:srgbClr val="028090"/>
            </a:solidFill>
            <a:effectLst/>
          </c:spPr>
          <c:invertIfNegative val="0"/>
          <c:cat>
            <c:strRef>
              <c:f>Sheet1!$A$2:$A$4</c:f>
              <c:strCache>
                <c:ptCount val="3"/>
                <c:pt idx="0">
                  <c:v>Phase 1 (0–4M)</c:v>
                </c:pt>
                <c:pt idx="1">
                  <c:v>Phase 2 (5–12M)</c:v>
                </c:pt>
                <c:pt idx="2">
                  <c:v>Phase 3 (13–24M)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3.4</c:v>
                </c:pt>
                <c:pt idx="1">
                  <c:v>14.4</c:v>
                </c:pt>
                <c:pt idx="2">
                  <c:v>43.2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5F3D-496E-8267-564737929F92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인프라 · LLM</c:v>
                </c:pt>
              </c:strCache>
            </c:strRef>
          </c:tx>
          <c:spPr>
            <a:solidFill>
              <a:srgbClr val="00A896"/>
            </a:solidFill>
            <a:effectLst/>
          </c:spPr>
          <c:invertIfNegative val="0"/>
          <c:cat>
            <c:strRef>
              <c:f>Sheet1!$A$2:$A$4</c:f>
              <c:strCache>
                <c:ptCount val="3"/>
                <c:pt idx="0">
                  <c:v>Phase 1 (0–4M)</c:v>
                </c:pt>
                <c:pt idx="1">
                  <c:v>Phase 2 (5–12M)</c:v>
                </c:pt>
                <c:pt idx="2">
                  <c:v>Phase 3 (13–24M)</c:v>
                </c:pt>
              </c:strCache>
            </c:strRef>
          </c:cat>
          <c:val>
            <c:numRef>
              <c:f>Sheet1!$C$2:$C$4</c:f>
              <c:numCache>
                <c:formatCode>General</c:formatCode>
                <c:ptCount val="3"/>
                <c:pt idx="0">
                  <c:v>0.6</c:v>
                </c:pt>
                <c:pt idx="1">
                  <c:v>2.4</c:v>
                </c:pt>
                <c:pt idx="2">
                  <c:v>6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5F3D-496E-8267-564737929F92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라이선스 · 인증 · GTM</c:v>
                </c:pt>
              </c:strCache>
            </c:strRef>
          </c:tx>
          <c:spPr>
            <a:solidFill>
              <a:srgbClr val="C98A2E"/>
            </a:solidFill>
            <a:effectLst/>
          </c:spPr>
          <c:invertIfNegative val="0"/>
          <c:cat>
            <c:strRef>
              <c:f>Sheet1!$A$2:$A$4</c:f>
              <c:strCache>
                <c:ptCount val="3"/>
                <c:pt idx="0">
                  <c:v>Phase 1 (0–4M)</c:v>
                </c:pt>
                <c:pt idx="1">
                  <c:v>Phase 2 (5–12M)</c:v>
                </c:pt>
                <c:pt idx="2">
                  <c:v>Phase 3 (13–24M)</c:v>
                </c:pt>
              </c:strCache>
            </c:strRef>
          </c:cat>
          <c:val>
            <c:numRef>
              <c:f>Sheet1!$D$2:$D$4</c:f>
              <c:numCache>
                <c:formatCode>General</c:formatCode>
                <c:ptCount val="3"/>
                <c:pt idx="0">
                  <c:v>0.5</c:v>
                </c:pt>
                <c:pt idx="1">
                  <c:v>1.5</c:v>
                </c:pt>
                <c:pt idx="2">
                  <c:v>5.8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5F3D-496E-8267-564737929F92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90"/>
        <c:overlap val="10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5E7B7E"/>
                </a:solidFill>
                <a:latin typeface="Malgun Gothic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12700" cap="flat">
              <a:solidFill>
                <a:srgbClr val="E4EDED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5E7B7E"/>
                </a:solidFill>
                <a:latin typeface="Malgun Gothic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000">
              <a:solidFill>
                <a:srgbClr val="5E7B7E"/>
              </a:solidFill>
              <a:latin typeface="Malgun Gothic"/>
              <a:cs typeface="Malgun Gothic"/>
            </a:defRPr>
          </a:pPr>
          <a:endParaRPr lang="en-US"/>
        </a:p>
      </c:txPr>
    </c:legend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93620773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본 계획은 제약·의료기기·헬스케어 규제를 대상으로, PoC → 내부 확장 → 외부 SaaS 3단계로 구축하는 안입니다. 오늘 요청드리는 의사결정은 Phase 1 PoC 착수 승인입니다.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네 가지 메시지: 규제 일정은 확정, 경쟁지형 재편 중, 차별화는 근거 추적성, 그리고 4개월 PoC로 검증.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이 슬라이드의 요지는 '언젠가'가 아니라 '이미 날짜가 박혀 있다'는 것. 특히 2027~2028년에 MDR/IVDR 시장퇴출이 집중.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Tier D는 절대 원문을 넣지 않습니다. ISO는 표준 내용을 AI 학습에 쓰는 것을 명시적으로 금지하고 있습니다. 대신 표준번호, 개정이력, 조화규격 여부 같은 메타데이터만 다룹니다.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PoC의 목적은 데모가 아니라 숫자입니다. 6개 지표 중 4개 이상 미달이면 No-Go로 판단하고 접근법을 재설계합니다.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이 숫자는 내부 가정 기반 추정치입니다. 오늘 승인을 요청드리는 것은 Phase 1의 4.5억이며, Phase 2·3는 게이트 통과 후 별도 상신합니다.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chart" Target="../charts/chart2.xml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C2E3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778240" y="-1371600"/>
            <a:ext cx="5669280" cy="5669280"/>
          </a:xfrm>
          <a:prstGeom prst="ellipse">
            <a:avLst/>
          </a:prstGeom>
          <a:solidFill>
            <a:srgbClr val="028090">
              <a:alpha val="22000"/>
            </a:srgbClr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" name="Shape 1"/>
          <p:cNvSpPr/>
          <p:nvPr/>
        </p:nvSpPr>
        <p:spPr>
          <a:xfrm>
            <a:off x="10058400" y="2377440"/>
            <a:ext cx="3840480" cy="3840480"/>
          </a:xfrm>
          <a:prstGeom prst="ellipse">
            <a:avLst/>
          </a:prstGeom>
          <a:solidFill>
            <a:srgbClr val="02C39A">
              <a:alpha val="16000"/>
            </a:srgbClr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" name="Text 2"/>
          <p:cNvSpPr/>
          <p:nvPr/>
        </p:nvSpPr>
        <p:spPr>
          <a:xfrm>
            <a:off x="822960" y="1371600"/>
            <a:ext cx="8229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300" dirty="0">
                <a:solidFill>
                  <a:srgbClr val="02C39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REGULATION KNOWLEDGE PLATFORM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786384" y="1828800"/>
            <a:ext cx="8595360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5000"/>
              </a:lnSpc>
              <a:buNone/>
            </a:pPr>
            <a:r>
              <a:rPr lang="en-US" sz="4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다산업 규제 지식 플랫폼</a:t>
            </a:r>
            <a:endParaRPr lang="en-US" sz="4200" dirty="0"/>
          </a:p>
          <a:p>
            <a:pPr marL="0" indent="0">
              <a:lnSpc>
                <a:spcPts val="5000"/>
              </a:lnSpc>
              <a:buNone/>
            </a:pPr>
            <a:r>
              <a:rPr lang="en-US" sz="4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구축 계획</a:t>
            </a:r>
            <a:endParaRPr lang="en-US" sz="4200" dirty="0"/>
          </a:p>
        </p:txBody>
      </p:sp>
      <p:sp>
        <p:nvSpPr>
          <p:cNvPr id="6" name="Text 4"/>
          <p:cNvSpPr/>
          <p:nvPr/>
        </p:nvSpPr>
        <p:spPr>
          <a:xfrm>
            <a:off x="822960" y="3611880"/>
            <a:ext cx="8412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600" dirty="0" err="1">
                <a:solidFill>
                  <a:srgbClr val="A8CFD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의료기기</a:t>
            </a:r>
            <a:r>
              <a:rPr lang="en-US" sz="1600" dirty="0">
                <a:solidFill>
                  <a:srgbClr val="A8CFD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· </a:t>
            </a:r>
            <a:r>
              <a:rPr lang="ko-KR" altLang="en-US" sz="1600" dirty="0">
                <a:solidFill>
                  <a:srgbClr val="A8CFD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화장품</a:t>
            </a:r>
            <a:r>
              <a:rPr lang="en-US" altLang="ko-KR" sz="1600" dirty="0">
                <a:solidFill>
                  <a:srgbClr val="A8CFD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· </a:t>
            </a:r>
            <a:r>
              <a:rPr lang="ko-KR" altLang="en-US" sz="1600" dirty="0" err="1">
                <a:solidFill>
                  <a:srgbClr val="A8CFD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웰니스기기</a:t>
            </a:r>
            <a:r>
              <a:rPr lang="en-US" sz="1600" dirty="0">
                <a:solidFill>
                  <a:srgbClr val="A8CFD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규제를 하나의 지식 레이어로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822960" y="4343400"/>
            <a:ext cx="2212848" cy="475488"/>
          </a:xfrm>
          <a:prstGeom prst="roundRect">
            <a:avLst>
              <a:gd name="adj" fmla="val 50000"/>
            </a:avLst>
          </a:prstGeom>
          <a:solidFill>
            <a:srgbClr val="154244"/>
          </a:solidFill>
          <a:ln w="12700">
            <a:solidFill>
              <a:srgbClr val="2F6567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8" name="Text 6"/>
          <p:cNvSpPr/>
          <p:nvPr/>
        </p:nvSpPr>
        <p:spPr>
          <a:xfrm>
            <a:off x="822960" y="4343400"/>
            <a:ext cx="221284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BFE3E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규제 변화 모니터링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3218688" y="4343400"/>
            <a:ext cx="2212848" cy="475488"/>
          </a:xfrm>
          <a:prstGeom prst="roundRect">
            <a:avLst>
              <a:gd name="adj" fmla="val 50000"/>
            </a:avLst>
          </a:prstGeom>
          <a:solidFill>
            <a:srgbClr val="154244"/>
          </a:solidFill>
          <a:ln w="12700">
            <a:solidFill>
              <a:srgbClr val="2F6567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0" name="Text 8"/>
          <p:cNvSpPr/>
          <p:nvPr/>
        </p:nvSpPr>
        <p:spPr>
          <a:xfrm>
            <a:off x="3218688" y="4343400"/>
            <a:ext cx="221284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BFE3E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규제 Q&amp;A 어시스턴트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5614416" y="4343400"/>
            <a:ext cx="2212848" cy="475488"/>
          </a:xfrm>
          <a:prstGeom prst="roundRect">
            <a:avLst>
              <a:gd name="adj" fmla="val 50000"/>
            </a:avLst>
          </a:prstGeom>
          <a:solidFill>
            <a:srgbClr val="154244"/>
          </a:solidFill>
          <a:ln w="12700">
            <a:solidFill>
              <a:srgbClr val="2F6567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2" name="Text 10"/>
          <p:cNvSpPr/>
          <p:nvPr/>
        </p:nvSpPr>
        <p:spPr>
          <a:xfrm>
            <a:off x="5614416" y="4343400"/>
            <a:ext cx="221284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BFE3E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컴플라이언스 갭 분석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8010144" y="4343400"/>
            <a:ext cx="2212848" cy="475488"/>
          </a:xfrm>
          <a:prstGeom prst="roundRect">
            <a:avLst>
              <a:gd name="adj" fmla="val 50000"/>
            </a:avLst>
          </a:prstGeom>
          <a:solidFill>
            <a:srgbClr val="154244"/>
          </a:solidFill>
          <a:ln w="12700">
            <a:solidFill>
              <a:srgbClr val="2F6567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4" name="Text 12"/>
          <p:cNvSpPr/>
          <p:nvPr/>
        </p:nvSpPr>
        <p:spPr>
          <a:xfrm>
            <a:off x="8010144" y="4343400"/>
            <a:ext cx="221284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BFE3E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외부 SaaS 제품화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822960" y="5715000"/>
            <a:ext cx="8686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7FAFB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경영진 보고용 | 2026년 7월 28일 | PoC 착수 승인 요청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29184"/>
            <a:ext cx="10515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02809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EXECUTIVE SUMMARY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21792"/>
            <a:ext cx="106070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629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지금이 진입 적기이며, 4개월 PoC로 검증 후 확장한다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66928" y="1481328"/>
            <a:ext cx="2615184" cy="1481328"/>
          </a:xfrm>
          <a:prstGeom prst="roundRect">
            <a:avLst>
              <a:gd name="adj" fmla="val 4938"/>
            </a:avLst>
          </a:prstGeom>
          <a:solidFill>
            <a:srgbClr val="EDF5F5"/>
          </a:solidFill>
          <a:ln w="12700">
            <a:solidFill>
              <a:srgbClr val="EDF5F5"/>
            </a:solidFill>
            <a:prstDash val="solid"/>
          </a:ln>
          <a:effectLst>
            <a:outerShdw blurRad="127000" dist="25400" dir="5400000" algn="bl" rotWithShape="0">
              <a:srgbClr val="0C2E30">
                <a:alpha val="12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5" name="Text 3"/>
          <p:cNvSpPr/>
          <p:nvPr/>
        </p:nvSpPr>
        <p:spPr>
          <a:xfrm>
            <a:off x="731520" y="1591056"/>
            <a:ext cx="22860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C2553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2027–29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731520" y="2194560"/>
            <a:ext cx="230428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500"/>
              </a:lnSpc>
              <a:buNone/>
            </a:pPr>
            <a:r>
              <a:rPr lang="en-US" sz="1050" dirty="0">
                <a:solidFill>
                  <a:srgbClr val="5E7B7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EU MDR/IVDR 시장퇴출</a:t>
            </a:r>
            <a:endParaRPr lang="en-US" sz="1050" dirty="0"/>
          </a:p>
          <a:p>
            <a:pPr marL="0" indent="0">
              <a:lnSpc>
                <a:spcPts val="1500"/>
              </a:lnSpc>
              <a:buNone/>
            </a:pPr>
            <a:r>
              <a:rPr lang="en-US" sz="1050" dirty="0">
                <a:solidFill>
                  <a:srgbClr val="5E7B7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마감이 몰린 구간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3364992" y="1481328"/>
            <a:ext cx="2615184" cy="1481328"/>
          </a:xfrm>
          <a:prstGeom prst="roundRect">
            <a:avLst>
              <a:gd name="adj" fmla="val 4938"/>
            </a:avLst>
          </a:prstGeom>
          <a:solidFill>
            <a:srgbClr val="EDF5F5"/>
          </a:solidFill>
          <a:ln w="12700">
            <a:solidFill>
              <a:srgbClr val="EDF5F5"/>
            </a:solidFill>
            <a:prstDash val="solid"/>
          </a:ln>
          <a:effectLst>
            <a:outerShdw blurRad="127000" dist="25400" dir="5400000" algn="bl" rotWithShape="0">
              <a:srgbClr val="0C2E30">
                <a:alpha val="12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8" name="Text 6"/>
          <p:cNvSpPr/>
          <p:nvPr/>
        </p:nvSpPr>
        <p:spPr>
          <a:xfrm>
            <a:off x="3529584" y="1591056"/>
            <a:ext cx="22860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2809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$2.5B</a:t>
            </a:r>
            <a:endParaRPr lang="en-US" sz="3000" dirty="0"/>
          </a:p>
        </p:txBody>
      </p:sp>
      <p:sp>
        <p:nvSpPr>
          <p:cNvPr id="9" name="Text 7"/>
          <p:cNvSpPr/>
          <p:nvPr/>
        </p:nvSpPr>
        <p:spPr>
          <a:xfrm>
            <a:off x="3529584" y="2194560"/>
            <a:ext cx="230428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500"/>
              </a:lnSpc>
              <a:buNone/>
            </a:pPr>
            <a:r>
              <a:rPr lang="en-US" sz="1050" dirty="0">
                <a:solidFill>
                  <a:srgbClr val="5E7B7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규제정보관리(RIM) 시장</a:t>
            </a:r>
            <a:endParaRPr lang="en-US" sz="1050" dirty="0"/>
          </a:p>
          <a:p>
            <a:pPr marL="0" indent="0">
              <a:lnSpc>
                <a:spcPts val="1500"/>
              </a:lnSpc>
              <a:buNone/>
            </a:pPr>
            <a:r>
              <a:rPr lang="en-US" sz="1050" dirty="0">
                <a:solidFill>
                  <a:srgbClr val="5E7B7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연 9~10% 성장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6163056" y="1481328"/>
            <a:ext cx="2615184" cy="1481328"/>
          </a:xfrm>
          <a:prstGeom prst="roundRect">
            <a:avLst>
              <a:gd name="adj" fmla="val 4938"/>
            </a:avLst>
          </a:prstGeom>
          <a:solidFill>
            <a:srgbClr val="EDF5F5"/>
          </a:solidFill>
          <a:ln w="12700">
            <a:solidFill>
              <a:srgbClr val="EDF5F5"/>
            </a:solidFill>
            <a:prstDash val="solid"/>
          </a:ln>
          <a:effectLst>
            <a:outerShdw blurRad="127000" dist="25400" dir="5400000" algn="bl" rotWithShape="0">
              <a:srgbClr val="0C2E30">
                <a:alpha val="12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11" name="Text 9"/>
          <p:cNvSpPr/>
          <p:nvPr/>
        </p:nvSpPr>
        <p:spPr>
          <a:xfrm>
            <a:off x="6327648" y="1591056"/>
            <a:ext cx="22860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C98A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9%</a:t>
            </a:r>
            <a:endParaRPr lang="en-US" sz="3000" dirty="0"/>
          </a:p>
        </p:txBody>
      </p:sp>
      <p:sp>
        <p:nvSpPr>
          <p:cNvPr id="12" name="Text 10"/>
          <p:cNvSpPr/>
          <p:nvPr/>
        </p:nvSpPr>
        <p:spPr>
          <a:xfrm>
            <a:off x="6327648" y="2194560"/>
            <a:ext cx="230428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500"/>
              </a:lnSpc>
              <a:buNone/>
            </a:pPr>
            <a:r>
              <a:rPr lang="en-US" sz="1050" dirty="0">
                <a:solidFill>
                  <a:srgbClr val="5E7B7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AI 투자로 유의미한 성과를</a:t>
            </a:r>
            <a:endParaRPr lang="en-US" sz="1050" dirty="0"/>
          </a:p>
          <a:p>
            <a:pPr marL="0" indent="0">
              <a:lnSpc>
                <a:spcPts val="1500"/>
              </a:lnSpc>
              <a:buNone/>
            </a:pPr>
            <a:r>
              <a:rPr lang="en-US" sz="1050" dirty="0">
                <a:solidFill>
                  <a:srgbClr val="5E7B7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낸 라이프사이언스 기업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8961120" y="1481328"/>
            <a:ext cx="2615184" cy="1481328"/>
          </a:xfrm>
          <a:prstGeom prst="roundRect">
            <a:avLst>
              <a:gd name="adj" fmla="val 4938"/>
            </a:avLst>
          </a:prstGeom>
          <a:solidFill>
            <a:srgbClr val="EDF5F5"/>
          </a:solidFill>
          <a:ln w="12700">
            <a:solidFill>
              <a:srgbClr val="EDF5F5"/>
            </a:solidFill>
            <a:prstDash val="solid"/>
          </a:ln>
          <a:effectLst>
            <a:outerShdw blurRad="127000" dist="25400" dir="5400000" algn="bl" rotWithShape="0">
              <a:srgbClr val="0C2E30">
                <a:alpha val="12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14" name="Text 12"/>
          <p:cNvSpPr/>
          <p:nvPr/>
        </p:nvSpPr>
        <p:spPr>
          <a:xfrm>
            <a:off x="9125712" y="1591056"/>
            <a:ext cx="22860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0A89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~18개월</a:t>
            </a:r>
            <a:endParaRPr lang="en-US" sz="3000" dirty="0"/>
          </a:p>
        </p:txBody>
      </p:sp>
      <p:sp>
        <p:nvSpPr>
          <p:cNvPr id="15" name="Text 13"/>
          <p:cNvSpPr/>
          <p:nvPr/>
        </p:nvSpPr>
        <p:spPr>
          <a:xfrm>
            <a:off x="9125712" y="2194560"/>
            <a:ext cx="230428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500"/>
              </a:lnSpc>
              <a:buNone/>
            </a:pPr>
            <a:r>
              <a:rPr lang="en-US" sz="1050" dirty="0">
                <a:solidFill>
                  <a:srgbClr val="5E7B7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Veeva 에이전틱 기능</a:t>
            </a:r>
            <a:endParaRPr lang="en-US" sz="1050" dirty="0"/>
          </a:p>
          <a:p>
            <a:pPr marL="0" indent="0">
              <a:lnSpc>
                <a:spcPts val="1500"/>
              </a:lnSpc>
              <a:buNone/>
            </a:pPr>
            <a:r>
              <a:rPr lang="en-US" sz="1050" dirty="0">
                <a:solidFill>
                  <a:srgbClr val="5E7B7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출시 전 확보 가능 윈도우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603504" y="3255264"/>
            <a:ext cx="329184" cy="329184"/>
          </a:xfrm>
          <a:prstGeom prst="ellipse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7" name="Text 15"/>
          <p:cNvSpPr/>
          <p:nvPr/>
        </p:nvSpPr>
        <p:spPr>
          <a:xfrm>
            <a:off x="603504" y="3255264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1060704" y="3200400"/>
            <a:ext cx="39319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629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규제 압박은 이미 확정된 일정표다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5029200" y="3182112"/>
            <a:ext cx="658368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500"/>
              </a:lnSpc>
              <a:buNone/>
            </a:pPr>
            <a:r>
              <a:rPr lang="en-US" sz="1050" dirty="0">
                <a:solidFill>
                  <a:srgbClr val="5E7B7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EU MDR 2027·2028년 시장퇴출 마감, IVDR Class C 신청기한 2026년 5월, EUDAMED 4개 모듈 의무화(2026.5.28) — 대응 여부가 아니라 대응 속도의 문제.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603504" y="4041648"/>
            <a:ext cx="329184" cy="329184"/>
          </a:xfrm>
          <a:prstGeom prst="ellipse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1" name="Text 19"/>
          <p:cNvSpPr/>
          <p:nvPr/>
        </p:nvSpPr>
        <p:spPr>
          <a:xfrm>
            <a:off x="603504" y="4041648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1060704" y="3986784"/>
            <a:ext cx="39319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629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경쟁 지형이 지금 재편 중이다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5029200" y="3968496"/>
            <a:ext cx="658368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500"/>
              </a:lnSpc>
              <a:buNone/>
            </a:pPr>
            <a:r>
              <a:rPr lang="en-US" sz="1050" dirty="0">
                <a:solidFill>
                  <a:srgbClr val="5E7B7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2026년 7월 Clarivate 라이프사이언스 부문($600M, 매출 약 1.6배)·ArisGlobal이 3주 간격으로 매각. 정적 콘텐츠형 규제 인텔리전스가 재평가받는 국면.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603504" y="4828032"/>
            <a:ext cx="329184" cy="329184"/>
          </a:xfrm>
          <a:prstGeom prst="ellipse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5" name="Text 23"/>
          <p:cNvSpPr/>
          <p:nvPr/>
        </p:nvSpPr>
        <p:spPr>
          <a:xfrm>
            <a:off x="603504" y="4828032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1060704" y="4773168"/>
            <a:ext cx="39319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629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차별화 지점은 생성 품질이 아니라 '근거 추적성'이다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5029200" y="4754880"/>
            <a:ext cx="658368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500"/>
              </a:lnSpc>
              <a:buNone/>
            </a:pPr>
            <a:r>
              <a:rPr lang="en-US" sz="1050" dirty="0">
                <a:solidFill>
                  <a:srgbClr val="5E7B7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FDA 자체 AI(Elsa)도 논문 환각 사례가 보도됐지만, 11개월 만에 심사관 90% 이상이 AI를 사용. 규제 영역의 승부처는 출처·버전·조문 단위 검증 가능성.</a:t>
            </a:r>
            <a:endParaRPr lang="en-US" sz="1050" dirty="0"/>
          </a:p>
        </p:txBody>
      </p:sp>
      <p:sp>
        <p:nvSpPr>
          <p:cNvPr id="28" name="Shape 26"/>
          <p:cNvSpPr/>
          <p:nvPr/>
        </p:nvSpPr>
        <p:spPr>
          <a:xfrm>
            <a:off x="603504" y="5614416"/>
            <a:ext cx="329184" cy="329184"/>
          </a:xfrm>
          <a:prstGeom prst="ellipse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9" name="Text 27"/>
          <p:cNvSpPr/>
          <p:nvPr/>
        </p:nvSpPr>
        <p:spPr>
          <a:xfrm>
            <a:off x="603504" y="5614416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1060704" y="5559552"/>
            <a:ext cx="39319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629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4개월 PoC로 리스크를 먼저 깎는다</a:t>
            </a:r>
            <a:endParaRPr lang="en-US" sz="1300" dirty="0"/>
          </a:p>
        </p:txBody>
      </p:sp>
      <p:sp>
        <p:nvSpPr>
          <p:cNvPr id="31" name="Text 29"/>
          <p:cNvSpPr/>
          <p:nvPr/>
        </p:nvSpPr>
        <p:spPr>
          <a:xfrm>
            <a:off x="5029200" y="5541264"/>
            <a:ext cx="658368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500"/>
              </a:lnSpc>
              <a:buNone/>
            </a:pPr>
            <a:r>
              <a:rPr lang="en-US" sz="1050" dirty="0">
                <a:solidFill>
                  <a:srgbClr val="5E7B7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1개 규제영역(EU MDR + MFDS 의료기기)·1개 사업부로 범위를 좁혀 탐지 커버리지와 인용 정확도를 계량 검증한 뒤 확장.</a:t>
            </a:r>
            <a:endParaRPr lang="en-US" sz="1050" dirty="0"/>
          </a:p>
        </p:txBody>
      </p:sp>
      <p:sp>
        <p:nvSpPr>
          <p:cNvPr id="32" name="Text 30"/>
          <p:cNvSpPr/>
          <p:nvPr/>
        </p:nvSpPr>
        <p:spPr>
          <a:xfrm>
            <a:off x="11430000" y="6382512"/>
            <a:ext cx="365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E7B7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29184"/>
            <a:ext cx="10515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02809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WHY NOW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21792"/>
            <a:ext cx="106070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629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2026–2029년, 대응 마감이 확정된 규제 일정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66928" y="1938528"/>
            <a:ext cx="2615184" cy="2743200"/>
          </a:xfrm>
          <a:prstGeom prst="roundRect">
            <a:avLst>
              <a:gd name="adj" fmla="val 2797"/>
            </a:avLst>
          </a:prstGeom>
          <a:solidFill>
            <a:srgbClr val="FBF1EE"/>
          </a:solidFill>
          <a:ln w="12700">
            <a:solidFill>
              <a:srgbClr val="FBF1EE"/>
            </a:solidFill>
            <a:prstDash val="solid"/>
          </a:ln>
          <a:effectLst>
            <a:outerShdw blurRad="127000" dist="25400" dir="5400000" algn="bl" rotWithShape="0">
              <a:srgbClr val="0C2E30">
                <a:alpha val="12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5" name="Shape 3"/>
          <p:cNvSpPr/>
          <p:nvPr/>
        </p:nvSpPr>
        <p:spPr>
          <a:xfrm>
            <a:off x="566928" y="1481328"/>
            <a:ext cx="2615184" cy="420624"/>
          </a:xfrm>
          <a:prstGeom prst="roundRect">
            <a:avLst>
              <a:gd name="adj" fmla="val 17391"/>
            </a:avLst>
          </a:prstGeom>
          <a:solidFill>
            <a:srgbClr val="C2553F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" name="Text 4"/>
          <p:cNvSpPr/>
          <p:nvPr/>
        </p:nvSpPr>
        <p:spPr>
          <a:xfrm>
            <a:off x="566928" y="1481328"/>
            <a:ext cx="261518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2026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749808" y="2103120"/>
            <a:ext cx="2286000" cy="2487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ts val="1500"/>
              </a:lnSpc>
              <a:spcAft>
                <a:spcPts val="800"/>
              </a:spcAft>
              <a:buSzPct val="100000"/>
              <a:buChar char="•"/>
            </a:pPr>
            <a:r>
              <a:rPr lang="en-US" sz="1050" dirty="0">
                <a:solidFill>
                  <a:srgbClr val="1629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5.26 IVDR Class C 인증신청 마감</a:t>
            </a:r>
            <a:endParaRPr lang="en-US" sz="1050" dirty="0"/>
          </a:p>
          <a:p>
            <a:pPr marL="342900" indent="-342900">
              <a:lnSpc>
                <a:spcPts val="1500"/>
              </a:lnSpc>
              <a:spcAft>
                <a:spcPts val="800"/>
              </a:spcAft>
              <a:buSzPct val="100000"/>
              <a:buChar char="•"/>
            </a:pPr>
            <a:r>
              <a:rPr lang="en-US" sz="1050" dirty="0">
                <a:solidFill>
                  <a:srgbClr val="1629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5.28 EUDAMED 4개 모듈 의무화</a:t>
            </a:r>
            <a:endParaRPr lang="en-US" sz="1050" dirty="0"/>
          </a:p>
          <a:p>
            <a:pPr marL="342900" indent="-342900">
              <a:lnSpc>
                <a:spcPts val="1500"/>
              </a:lnSpc>
              <a:spcAft>
                <a:spcPts val="800"/>
              </a:spcAft>
              <a:buSzPct val="100000"/>
              <a:buChar char="•"/>
            </a:pPr>
            <a:r>
              <a:rPr lang="en-US" sz="1050" dirty="0">
                <a:solidFill>
                  <a:srgbClr val="1629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8.2 EU AI Act 투명성 의무 적용</a:t>
            </a:r>
            <a:endParaRPr lang="en-US" sz="1050" dirty="0"/>
          </a:p>
          <a:p>
            <a:pPr marL="342900" indent="-342900">
              <a:lnSpc>
                <a:spcPts val="1500"/>
              </a:lnSpc>
              <a:spcAft>
                <a:spcPts val="800"/>
              </a:spcAft>
              <a:buSzPct val="100000"/>
              <a:buChar char="•"/>
            </a:pPr>
            <a:r>
              <a:rPr lang="en-US" sz="1050" dirty="0">
                <a:solidFill>
                  <a:srgbClr val="1629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MFDS 심사기간 420→240일 추진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3364992" y="1938528"/>
            <a:ext cx="2615184" cy="2743200"/>
          </a:xfrm>
          <a:prstGeom prst="roundRect">
            <a:avLst>
              <a:gd name="adj" fmla="val 2797"/>
            </a:avLst>
          </a:prstGeom>
          <a:solidFill>
            <a:srgbClr val="FBF1EE"/>
          </a:solidFill>
          <a:ln w="12700">
            <a:solidFill>
              <a:srgbClr val="FBF1EE"/>
            </a:solidFill>
            <a:prstDash val="solid"/>
          </a:ln>
          <a:effectLst>
            <a:outerShdw blurRad="127000" dist="25400" dir="5400000" algn="bl" rotWithShape="0">
              <a:srgbClr val="0C2E30">
                <a:alpha val="12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9" name="Shape 7"/>
          <p:cNvSpPr/>
          <p:nvPr/>
        </p:nvSpPr>
        <p:spPr>
          <a:xfrm>
            <a:off x="3364992" y="1481328"/>
            <a:ext cx="2615184" cy="420624"/>
          </a:xfrm>
          <a:prstGeom prst="roundRect">
            <a:avLst>
              <a:gd name="adj" fmla="val 17391"/>
            </a:avLst>
          </a:prstGeom>
          <a:solidFill>
            <a:srgbClr val="C98A2E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0" name="Text 8"/>
          <p:cNvSpPr/>
          <p:nvPr/>
        </p:nvSpPr>
        <p:spPr>
          <a:xfrm>
            <a:off x="3364992" y="1481328"/>
            <a:ext cx="261518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2027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3547872" y="2103120"/>
            <a:ext cx="2286000" cy="2487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ts val="1500"/>
              </a:lnSpc>
              <a:spcAft>
                <a:spcPts val="800"/>
              </a:spcAft>
              <a:buSzPct val="100000"/>
              <a:buChar char="•"/>
            </a:pPr>
            <a:r>
              <a:rPr lang="en-US" sz="1050" dirty="0">
                <a:solidFill>
                  <a:srgbClr val="1629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5.26 IVDR Class B/A(멸균) 신청 마감</a:t>
            </a:r>
            <a:endParaRPr lang="en-US" sz="1050" dirty="0"/>
          </a:p>
          <a:p>
            <a:pPr marL="342900" indent="-342900">
              <a:lnSpc>
                <a:spcPts val="1500"/>
              </a:lnSpc>
              <a:spcAft>
                <a:spcPts val="800"/>
              </a:spcAft>
              <a:buSzPct val="100000"/>
              <a:buChar char="•"/>
            </a:pPr>
            <a:r>
              <a:rPr lang="en-US" sz="1050" dirty="0">
                <a:solidFill>
                  <a:srgbClr val="1629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12.31 MDR Class III·IIb 이식형 퇴출</a:t>
            </a:r>
            <a:endParaRPr lang="en-US" sz="1050" dirty="0"/>
          </a:p>
          <a:p>
            <a:pPr marL="342900" indent="-342900">
              <a:lnSpc>
                <a:spcPts val="1500"/>
              </a:lnSpc>
              <a:spcAft>
                <a:spcPts val="800"/>
              </a:spcAft>
              <a:buSzPct val="100000"/>
              <a:buChar char="•"/>
            </a:pPr>
            <a:r>
              <a:rPr lang="en-US" sz="1050" dirty="0">
                <a:solidFill>
                  <a:srgbClr val="1629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12.31 IVDR Class D 퇴출</a:t>
            </a:r>
            <a:endParaRPr lang="en-US" sz="1050" dirty="0"/>
          </a:p>
          <a:p>
            <a:pPr marL="342900" indent="-342900">
              <a:lnSpc>
                <a:spcPts val="1500"/>
              </a:lnSpc>
              <a:spcAft>
                <a:spcPts val="800"/>
              </a:spcAft>
              <a:buSzPct val="100000"/>
              <a:buChar char="•"/>
            </a:pPr>
            <a:r>
              <a:rPr lang="en-US" sz="1050" dirty="0">
                <a:solidFill>
                  <a:srgbClr val="1629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12.2 EU AI Act 고위험 AI 적용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6163056" y="1938528"/>
            <a:ext cx="2615184" cy="2743200"/>
          </a:xfrm>
          <a:prstGeom prst="roundRect">
            <a:avLst>
              <a:gd name="adj" fmla="val 2797"/>
            </a:avLst>
          </a:prstGeom>
          <a:solidFill>
            <a:srgbClr val="EDF5F5"/>
          </a:solidFill>
          <a:ln w="12700">
            <a:solidFill>
              <a:srgbClr val="EDF5F5"/>
            </a:solidFill>
            <a:prstDash val="solid"/>
          </a:ln>
          <a:effectLst>
            <a:outerShdw blurRad="127000" dist="25400" dir="5400000" algn="bl" rotWithShape="0">
              <a:srgbClr val="0C2E30">
                <a:alpha val="12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13" name="Shape 11"/>
          <p:cNvSpPr/>
          <p:nvPr/>
        </p:nvSpPr>
        <p:spPr>
          <a:xfrm>
            <a:off x="6163056" y="1481328"/>
            <a:ext cx="2615184" cy="420624"/>
          </a:xfrm>
          <a:prstGeom prst="roundRect">
            <a:avLst>
              <a:gd name="adj" fmla="val 17391"/>
            </a:avLst>
          </a:prstGeom>
          <a:solidFill>
            <a:srgbClr val="028090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4" name="Text 12"/>
          <p:cNvSpPr/>
          <p:nvPr/>
        </p:nvSpPr>
        <p:spPr>
          <a:xfrm>
            <a:off x="6163056" y="1481328"/>
            <a:ext cx="261518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2028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6345936" y="2103120"/>
            <a:ext cx="2286000" cy="2487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ts val="1500"/>
              </a:lnSpc>
              <a:spcAft>
                <a:spcPts val="800"/>
              </a:spcAft>
              <a:buSzPct val="100000"/>
              <a:buChar char="•"/>
            </a:pPr>
            <a:r>
              <a:rPr lang="en-US" sz="1050" dirty="0">
                <a:solidFill>
                  <a:srgbClr val="1629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8.2 EU AI Act 의료기기 내장형 AI 적용</a:t>
            </a:r>
            <a:endParaRPr lang="en-US" sz="1050" dirty="0"/>
          </a:p>
          <a:p>
            <a:pPr marL="342900" indent="-342900">
              <a:lnSpc>
                <a:spcPts val="1500"/>
              </a:lnSpc>
              <a:spcAft>
                <a:spcPts val="800"/>
              </a:spcAft>
              <a:buSzPct val="100000"/>
              <a:buChar char="•"/>
            </a:pPr>
            <a:r>
              <a:rPr lang="en-US" sz="1050" dirty="0">
                <a:solidFill>
                  <a:srgbClr val="1629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12.31 MDR 잔여 등급 전면 퇴출</a:t>
            </a:r>
            <a:endParaRPr lang="en-US" sz="1050" dirty="0"/>
          </a:p>
          <a:p>
            <a:pPr marL="342900" indent="-342900">
              <a:lnSpc>
                <a:spcPts val="1500"/>
              </a:lnSpc>
              <a:spcAft>
                <a:spcPts val="800"/>
              </a:spcAft>
              <a:buSzPct val="100000"/>
              <a:buChar char="•"/>
            </a:pPr>
            <a:r>
              <a:rPr lang="en-US" sz="1050" dirty="0">
                <a:solidFill>
                  <a:srgbClr val="1629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12.31 IVDR Class C 퇴출</a:t>
            </a:r>
            <a:endParaRPr lang="en-US" sz="1050" dirty="0"/>
          </a:p>
          <a:p>
            <a:pPr marL="342900" indent="-342900">
              <a:lnSpc>
                <a:spcPts val="1500"/>
              </a:lnSpc>
              <a:spcAft>
                <a:spcPts val="800"/>
              </a:spcAft>
              <a:buSzPct val="100000"/>
              <a:buChar char="•"/>
            </a:pPr>
            <a:r>
              <a:rPr lang="en-US" sz="1050" dirty="0">
                <a:solidFill>
                  <a:srgbClr val="1629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EU 의약품 패키지 전면 적용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8961120" y="1938528"/>
            <a:ext cx="2615184" cy="2743200"/>
          </a:xfrm>
          <a:prstGeom prst="roundRect">
            <a:avLst>
              <a:gd name="adj" fmla="val 2797"/>
            </a:avLst>
          </a:prstGeom>
          <a:solidFill>
            <a:srgbClr val="EDF5F5"/>
          </a:solidFill>
          <a:ln w="12700">
            <a:solidFill>
              <a:srgbClr val="EDF5F5"/>
            </a:solidFill>
            <a:prstDash val="solid"/>
          </a:ln>
          <a:effectLst>
            <a:outerShdw blurRad="127000" dist="25400" dir="5400000" algn="bl" rotWithShape="0">
              <a:srgbClr val="0C2E30">
                <a:alpha val="12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17" name="Shape 15"/>
          <p:cNvSpPr/>
          <p:nvPr/>
        </p:nvSpPr>
        <p:spPr>
          <a:xfrm>
            <a:off x="8961120" y="1481328"/>
            <a:ext cx="2615184" cy="420624"/>
          </a:xfrm>
          <a:prstGeom prst="roundRect">
            <a:avLst>
              <a:gd name="adj" fmla="val 17391"/>
            </a:avLst>
          </a:prstGeom>
          <a:solidFill>
            <a:srgbClr val="00A896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8" name="Text 16"/>
          <p:cNvSpPr/>
          <p:nvPr/>
        </p:nvSpPr>
        <p:spPr>
          <a:xfrm>
            <a:off x="8961120" y="1481328"/>
            <a:ext cx="261518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2029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9144000" y="2103120"/>
            <a:ext cx="2286000" cy="2487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ts val="1500"/>
              </a:lnSpc>
              <a:spcAft>
                <a:spcPts val="800"/>
              </a:spcAft>
              <a:buSzPct val="100000"/>
              <a:buChar char="•"/>
            </a:pPr>
            <a:r>
              <a:rPr lang="en-US" sz="1050" dirty="0">
                <a:solidFill>
                  <a:srgbClr val="1629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12.31 IVDR Class B / Class A(멸균) 퇴출</a:t>
            </a:r>
            <a:endParaRPr lang="en-US" sz="1050" dirty="0"/>
          </a:p>
          <a:p>
            <a:pPr marL="342900" indent="-342900">
              <a:lnSpc>
                <a:spcPts val="1500"/>
              </a:lnSpc>
              <a:spcAft>
                <a:spcPts val="800"/>
              </a:spcAft>
              <a:buSzPct val="100000"/>
              <a:buChar char="•"/>
            </a:pPr>
            <a:r>
              <a:rPr lang="en-US" sz="1050" dirty="0">
                <a:solidFill>
                  <a:srgbClr val="1629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MDR/IVDR 개정안(MDR 2.0) 시행 국면</a:t>
            </a:r>
            <a:endParaRPr lang="en-US" sz="1050" dirty="0"/>
          </a:p>
          <a:p>
            <a:pPr marL="342900" indent="-342900">
              <a:lnSpc>
                <a:spcPts val="1500"/>
              </a:lnSpc>
              <a:spcAft>
                <a:spcPts val="800"/>
              </a:spcAft>
              <a:buSzPct val="100000"/>
              <a:buChar char="•"/>
            </a:pPr>
            <a:r>
              <a:rPr lang="en-US" sz="1050" dirty="0">
                <a:solidFill>
                  <a:srgbClr val="1629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규제 재매핑 요구 지속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566928" y="4956048"/>
            <a:ext cx="11073384" cy="841248"/>
          </a:xfrm>
          <a:prstGeom prst="roundRect">
            <a:avLst>
              <a:gd name="adj" fmla="val 8696"/>
            </a:avLst>
          </a:prstGeom>
          <a:solidFill>
            <a:srgbClr val="0C2E30"/>
          </a:solidFill>
          <a:ln w="12700">
            <a:solidFill>
              <a:srgbClr val="0C2E3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1" name="Text 19"/>
          <p:cNvSpPr/>
          <p:nvPr/>
        </p:nvSpPr>
        <p:spPr>
          <a:xfrm>
            <a:off x="822960" y="5065776"/>
            <a:ext cx="10607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현재 병목: 인증기관(Notified Body) 심사에 통상 13~18개월 소요, 2025년 인증서 1,090건 철회, NB 적합성평가 인력 8% 감소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822960" y="5376672"/>
            <a:ext cx="10607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A8CFD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마감은 고정되어 있고 심사 처리량은 줄고 있다 → 내부 준비 리드타임을 줄이는 것이 유일한 통제 변수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566928" y="6382512"/>
            <a:ext cx="11064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E7B7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출처: European Commission(MDR/IVDR 경과규정, EUDAMED Decision 2025/2371), Regulation (EU) 2026/1744(Digital Omnibus on AI), Team-NB 2026 설문(RAPS), MFDS 2026 업무보고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11430000" y="6382512"/>
            <a:ext cx="365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E7B7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29184"/>
            <a:ext cx="10515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02809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PROBLEM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21792"/>
            <a:ext cx="106070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629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현재 규제 대응 방식의 5가지 구조적 한계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66928" y="1536192"/>
            <a:ext cx="3538728" cy="2084832"/>
          </a:xfrm>
          <a:prstGeom prst="roundRect">
            <a:avLst>
              <a:gd name="adj" fmla="val 3509"/>
            </a:avLst>
          </a:prstGeom>
          <a:solidFill>
            <a:srgbClr val="EDF5F5"/>
          </a:solidFill>
          <a:ln w="12700">
            <a:solidFill>
              <a:srgbClr val="EDF5F5"/>
            </a:solidFill>
            <a:prstDash val="solid"/>
          </a:ln>
          <a:effectLst>
            <a:outerShdw blurRad="127000" dist="25400" dir="5400000" algn="bl" rotWithShape="0">
              <a:srgbClr val="0C2E30">
                <a:alpha val="12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5" name="Text 3"/>
          <p:cNvSpPr/>
          <p:nvPr/>
        </p:nvSpPr>
        <p:spPr>
          <a:xfrm>
            <a:off x="786384" y="1682496"/>
            <a:ext cx="10972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00A89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01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786384" y="2103120"/>
            <a:ext cx="3108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900"/>
              </a:lnSpc>
              <a:buNone/>
            </a:pPr>
            <a:r>
              <a:rPr lang="en-US" sz="1400" b="1" dirty="0">
                <a:solidFill>
                  <a:srgbClr val="1629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규제 변화 인지가 사람에 의존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786384" y="2688336"/>
            <a:ext cx="3127248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500"/>
              </a:lnSpc>
              <a:buNone/>
            </a:pPr>
            <a:r>
              <a:rPr lang="en-US" sz="1050" dirty="0">
                <a:solidFill>
                  <a:srgbClr val="5E7B7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미국 연방관보만 2025년 23,690건 발행. 국가별 담당자 수동 모니터링은 누락·지연이 구조적으로 발생.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4306824" y="1536192"/>
            <a:ext cx="3538728" cy="2084832"/>
          </a:xfrm>
          <a:prstGeom prst="roundRect">
            <a:avLst>
              <a:gd name="adj" fmla="val 3509"/>
            </a:avLst>
          </a:prstGeom>
          <a:solidFill>
            <a:srgbClr val="EDF5F5"/>
          </a:solidFill>
          <a:ln w="12700">
            <a:solidFill>
              <a:srgbClr val="EDF5F5"/>
            </a:solidFill>
            <a:prstDash val="solid"/>
          </a:ln>
          <a:effectLst>
            <a:outerShdw blurRad="127000" dist="25400" dir="5400000" algn="bl" rotWithShape="0">
              <a:srgbClr val="0C2E30">
                <a:alpha val="12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9" name="Text 7"/>
          <p:cNvSpPr/>
          <p:nvPr/>
        </p:nvSpPr>
        <p:spPr>
          <a:xfrm>
            <a:off x="4526280" y="1682496"/>
            <a:ext cx="10972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00A89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02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4526280" y="2103120"/>
            <a:ext cx="3108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900"/>
              </a:lnSpc>
              <a:buNone/>
            </a:pPr>
            <a:r>
              <a:rPr lang="en-US" sz="1400" b="1" dirty="0">
                <a:solidFill>
                  <a:srgbClr val="1629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지식이 문서와 개인에 흩어져 있음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4526280" y="2688336"/>
            <a:ext cx="3127248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500"/>
              </a:lnSpc>
              <a:buNone/>
            </a:pPr>
            <a:r>
              <a:rPr lang="en-US" sz="1050" dirty="0">
                <a:solidFill>
                  <a:srgbClr val="5E7B7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PDF·이메일·개인 엑셀에 분산. 담당자 이탈 시 해석 근거가 함께 사라짐(RA 인력의 40~52%가 현직 2년 미만).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8046720" y="1536192"/>
            <a:ext cx="3538728" cy="2084832"/>
          </a:xfrm>
          <a:prstGeom prst="roundRect">
            <a:avLst>
              <a:gd name="adj" fmla="val 3509"/>
            </a:avLst>
          </a:prstGeom>
          <a:solidFill>
            <a:srgbClr val="EDF5F5"/>
          </a:solidFill>
          <a:ln w="12700">
            <a:solidFill>
              <a:srgbClr val="EDF5F5"/>
            </a:solidFill>
            <a:prstDash val="solid"/>
          </a:ln>
          <a:effectLst>
            <a:outerShdw blurRad="127000" dist="25400" dir="5400000" algn="bl" rotWithShape="0">
              <a:srgbClr val="0C2E30">
                <a:alpha val="12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13" name="Text 11"/>
          <p:cNvSpPr/>
          <p:nvPr/>
        </p:nvSpPr>
        <p:spPr>
          <a:xfrm>
            <a:off x="8266176" y="1682496"/>
            <a:ext cx="10972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00A89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03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8266176" y="2103120"/>
            <a:ext cx="3108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900"/>
              </a:lnSpc>
              <a:buNone/>
            </a:pPr>
            <a:r>
              <a:rPr lang="en-US" sz="1400" b="1" dirty="0">
                <a:solidFill>
                  <a:srgbClr val="1629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동일 질문에 매번 재조사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8266176" y="2688336"/>
            <a:ext cx="3127248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500"/>
              </a:lnSpc>
              <a:buNone/>
            </a:pPr>
            <a:r>
              <a:rPr lang="en-US" sz="1050" dirty="0">
                <a:solidFill>
                  <a:srgbClr val="5E7B7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'이 변경이 재허가 대상인가'류 질의가 반복되지만 축적되지 않음. 조사 시간이 제품 출시 리드타임에 직결.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566928" y="3785616"/>
            <a:ext cx="3538728" cy="2084832"/>
          </a:xfrm>
          <a:prstGeom prst="roundRect">
            <a:avLst>
              <a:gd name="adj" fmla="val 3509"/>
            </a:avLst>
          </a:prstGeom>
          <a:solidFill>
            <a:srgbClr val="EDF5F5"/>
          </a:solidFill>
          <a:ln w="12700">
            <a:solidFill>
              <a:srgbClr val="EDF5F5"/>
            </a:solidFill>
            <a:prstDash val="solid"/>
          </a:ln>
          <a:effectLst>
            <a:outerShdw blurRad="127000" dist="25400" dir="5400000" algn="bl" rotWithShape="0">
              <a:srgbClr val="0C2E30">
                <a:alpha val="12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17" name="Text 15"/>
          <p:cNvSpPr/>
          <p:nvPr/>
        </p:nvSpPr>
        <p:spPr>
          <a:xfrm>
            <a:off x="786384" y="3931920"/>
            <a:ext cx="10972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00A89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04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786384" y="4352544"/>
            <a:ext cx="3108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900"/>
              </a:lnSpc>
              <a:buNone/>
            </a:pPr>
            <a:r>
              <a:rPr lang="en-US" sz="1400" b="1" dirty="0">
                <a:solidFill>
                  <a:srgbClr val="1629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규제-내부통제 매핑 부재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786384" y="4937760"/>
            <a:ext cx="3127248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500"/>
              </a:lnSpc>
              <a:buNone/>
            </a:pPr>
            <a:r>
              <a:rPr lang="en-US" sz="1050" dirty="0">
                <a:solidFill>
                  <a:srgbClr val="5E7B7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규제 요건과 사내 SOP·통제 항목이 연결되어 있지 않아, 개정 시 영향 범위를 사후에 수작업으로 산정.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4306824" y="3785616"/>
            <a:ext cx="3538728" cy="2084832"/>
          </a:xfrm>
          <a:prstGeom prst="roundRect">
            <a:avLst>
              <a:gd name="adj" fmla="val 3509"/>
            </a:avLst>
          </a:prstGeom>
          <a:solidFill>
            <a:srgbClr val="EDF5F5"/>
          </a:solidFill>
          <a:ln w="12700">
            <a:solidFill>
              <a:srgbClr val="EDF5F5"/>
            </a:solidFill>
            <a:prstDash val="solid"/>
          </a:ln>
          <a:effectLst>
            <a:outerShdw blurRad="127000" dist="25400" dir="5400000" algn="bl" rotWithShape="0">
              <a:srgbClr val="0C2E30">
                <a:alpha val="12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21" name="Text 19"/>
          <p:cNvSpPr/>
          <p:nvPr/>
        </p:nvSpPr>
        <p:spPr>
          <a:xfrm>
            <a:off x="4526280" y="3931920"/>
            <a:ext cx="10972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00A89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05</a:t>
            </a:r>
            <a:endParaRPr lang="en-US" sz="2200" dirty="0"/>
          </a:p>
        </p:txBody>
      </p:sp>
      <p:sp>
        <p:nvSpPr>
          <p:cNvPr id="22" name="Text 20"/>
          <p:cNvSpPr/>
          <p:nvPr/>
        </p:nvSpPr>
        <p:spPr>
          <a:xfrm>
            <a:off x="4526280" y="4352544"/>
            <a:ext cx="3108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900"/>
              </a:lnSpc>
              <a:buNone/>
            </a:pPr>
            <a:r>
              <a:rPr lang="en-US" sz="1400" b="1" dirty="0">
                <a:solidFill>
                  <a:srgbClr val="1629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비준수 비용이 크고 후행적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4526280" y="4937760"/>
            <a:ext cx="3127248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500"/>
              </a:lnSpc>
              <a:buNone/>
            </a:pPr>
            <a:r>
              <a:rPr lang="en-US" sz="1050" dirty="0">
                <a:solidFill>
                  <a:srgbClr val="5E7B7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FDA 483·경고장 관련 비용은 미국 의료기기 산업 연 $2.5~5B 추정. 2025년 CDRH 경고장 54건(전년 43건).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8046720" y="3785616"/>
            <a:ext cx="3593592" cy="2084832"/>
          </a:xfrm>
          <a:prstGeom prst="roundRect">
            <a:avLst>
              <a:gd name="adj" fmla="val 3509"/>
            </a:avLst>
          </a:prstGeom>
          <a:solidFill>
            <a:srgbClr val="0C2E30"/>
          </a:solidFill>
          <a:ln w="12700">
            <a:solidFill>
              <a:srgbClr val="0C2E3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5" name="Text 23"/>
          <p:cNvSpPr/>
          <p:nvPr/>
        </p:nvSpPr>
        <p:spPr>
          <a:xfrm>
            <a:off x="8266176" y="3931920"/>
            <a:ext cx="31089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02C39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결과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8266176" y="4297680"/>
            <a:ext cx="31546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규제 대응이 '리스크 관리'가 아니라</a:t>
            </a:r>
            <a:endParaRPr lang="en-US" sz="1500" dirty="0"/>
          </a:p>
          <a:p>
            <a:pPr marL="0" indent="0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'사고 수습'으로 운영된다</a:t>
            </a:r>
            <a:endParaRPr lang="en-US" sz="1500" dirty="0"/>
          </a:p>
        </p:txBody>
      </p:sp>
      <p:sp>
        <p:nvSpPr>
          <p:cNvPr id="27" name="Text 25"/>
          <p:cNvSpPr/>
          <p:nvPr/>
        </p:nvSpPr>
        <p:spPr>
          <a:xfrm>
            <a:off x="8266176" y="5175504"/>
            <a:ext cx="31546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500"/>
              </a:lnSpc>
              <a:buNone/>
            </a:pPr>
            <a:r>
              <a:rPr lang="en-US" sz="1050" dirty="0">
                <a:solidFill>
                  <a:srgbClr val="A8CFD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2025년 의료기기 리콜 1,143건 · 5.837억 유닛 영향 · Class I 145건</a:t>
            </a:r>
            <a:endParaRPr lang="en-US" sz="1050" dirty="0"/>
          </a:p>
        </p:txBody>
      </p:sp>
      <p:sp>
        <p:nvSpPr>
          <p:cNvPr id="28" name="Text 26"/>
          <p:cNvSpPr/>
          <p:nvPr/>
        </p:nvSpPr>
        <p:spPr>
          <a:xfrm>
            <a:off x="566928" y="6382512"/>
            <a:ext cx="11064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E7B7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출처: Federal Register 문서 통계, Elemed Global Regulatory Affairs Workforce Report 2024, Emergo(CDRH 2025 경고장 리뷰), FDA CDRH 리콜 데이터 분석, 산업 비용 추정 연구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11430000" y="6382512"/>
            <a:ext cx="365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E7B7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29184"/>
            <a:ext cx="10515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02809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MARKET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21792"/>
            <a:ext cx="106070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629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소프트웨어 $2.5B, 대체 가능한 서비스 예산 $4.3B</a:t>
            </a:r>
            <a:endParaRPr lang="en-US" sz="2800" dirty="0"/>
          </a:p>
        </p:txBody>
      </p:sp>
      <p:graphicFrame>
        <p:nvGraphicFramePr>
          <p:cNvPr id="4" name="Chart 0"/>
          <p:cNvGraphicFramePr/>
          <p:nvPr/>
        </p:nvGraphicFramePr>
        <p:xfrm>
          <a:off x="566928" y="1517904"/>
          <a:ext cx="6583680" cy="338328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5" name="Shape 2"/>
          <p:cNvSpPr/>
          <p:nvPr/>
        </p:nvSpPr>
        <p:spPr>
          <a:xfrm>
            <a:off x="7406640" y="1572768"/>
            <a:ext cx="4233672" cy="1005840"/>
          </a:xfrm>
          <a:prstGeom prst="roundRect">
            <a:avLst>
              <a:gd name="adj" fmla="val 7273"/>
            </a:avLst>
          </a:prstGeom>
          <a:solidFill>
            <a:srgbClr val="EDF5F5"/>
          </a:solidFill>
          <a:ln w="12700">
            <a:solidFill>
              <a:srgbClr val="EDF5F5"/>
            </a:solidFill>
            <a:prstDash val="solid"/>
          </a:ln>
          <a:effectLst>
            <a:outerShdw blurRad="127000" dist="25400" dir="5400000" algn="bl" rotWithShape="0">
              <a:srgbClr val="0C2E30">
                <a:alpha val="12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6" name="Text 3"/>
          <p:cNvSpPr/>
          <p:nvPr/>
        </p:nvSpPr>
        <p:spPr>
          <a:xfrm>
            <a:off x="7626096" y="1664208"/>
            <a:ext cx="3794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02809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RIM 시장은 신뢰도가 높다</a:t>
            </a:r>
            <a:endParaRPr lang="en-US" sz="1250" dirty="0"/>
          </a:p>
        </p:txBody>
      </p:sp>
      <p:sp>
        <p:nvSpPr>
          <p:cNvPr id="7" name="Text 4"/>
          <p:cNvSpPr/>
          <p:nvPr/>
        </p:nvSpPr>
        <p:spPr>
          <a:xfrm>
            <a:off x="7626096" y="1956816"/>
            <a:ext cx="381304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400"/>
              </a:lnSpc>
              <a:buNone/>
            </a:pPr>
            <a:r>
              <a:rPr lang="en-US" sz="1000" dirty="0">
                <a:solidFill>
                  <a:srgbClr val="5E7B7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독립 리서치 2곳이 2025년 기준 $2.5B / $2.56B, CAGR 9.1% / 10.3%로 수렴. 제약 42.6%, 의료기기가 최고 성장 세그먼트.</a:t>
            </a:r>
            <a:endParaRPr lang="en-US" sz="1000" dirty="0"/>
          </a:p>
        </p:txBody>
      </p:sp>
      <p:sp>
        <p:nvSpPr>
          <p:cNvPr id="8" name="Shape 5"/>
          <p:cNvSpPr/>
          <p:nvPr/>
        </p:nvSpPr>
        <p:spPr>
          <a:xfrm>
            <a:off x="7406640" y="2706624"/>
            <a:ext cx="4233672" cy="1005840"/>
          </a:xfrm>
          <a:prstGeom prst="roundRect">
            <a:avLst>
              <a:gd name="adj" fmla="val 7273"/>
            </a:avLst>
          </a:prstGeom>
          <a:solidFill>
            <a:srgbClr val="EDF5F5"/>
          </a:solidFill>
          <a:ln w="12700">
            <a:solidFill>
              <a:srgbClr val="EDF5F5"/>
            </a:solidFill>
            <a:prstDash val="solid"/>
          </a:ln>
          <a:effectLst>
            <a:outerShdw blurRad="127000" dist="25400" dir="5400000" algn="bl" rotWithShape="0">
              <a:srgbClr val="0C2E30">
                <a:alpha val="12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9" name="Text 6"/>
          <p:cNvSpPr/>
          <p:nvPr/>
        </p:nvSpPr>
        <p:spPr>
          <a:xfrm>
            <a:off x="7626096" y="2798064"/>
            <a:ext cx="3794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02809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AI 규제업무는 성장률이 가장 높다</a:t>
            </a:r>
            <a:endParaRPr lang="en-US" sz="1250" dirty="0"/>
          </a:p>
        </p:txBody>
      </p:sp>
      <p:sp>
        <p:nvSpPr>
          <p:cNvPr id="10" name="Text 7"/>
          <p:cNvSpPr/>
          <p:nvPr/>
        </p:nvSpPr>
        <p:spPr>
          <a:xfrm>
            <a:off x="7626096" y="3090672"/>
            <a:ext cx="381304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400"/>
              </a:lnSpc>
              <a:buNone/>
            </a:pPr>
            <a:r>
              <a:rPr lang="en-US" sz="1000" dirty="0">
                <a:solidFill>
                  <a:srgbClr val="5E7B7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2025~26년 $1.7~1.9B, CAGR 19~23%. 최대 응용분야가 '규제 인텔리전스'(29.2%), APAC이 최고 성장률(22.5%).</a:t>
            </a:r>
            <a:endParaRPr lang="en-US" sz="1000" dirty="0"/>
          </a:p>
        </p:txBody>
      </p:sp>
      <p:sp>
        <p:nvSpPr>
          <p:cNvPr id="11" name="Shape 8"/>
          <p:cNvSpPr/>
          <p:nvPr/>
        </p:nvSpPr>
        <p:spPr>
          <a:xfrm>
            <a:off x="7406640" y="3840480"/>
            <a:ext cx="4233672" cy="1005840"/>
          </a:xfrm>
          <a:prstGeom prst="roundRect">
            <a:avLst>
              <a:gd name="adj" fmla="val 7273"/>
            </a:avLst>
          </a:prstGeom>
          <a:solidFill>
            <a:srgbClr val="EDF5F5"/>
          </a:solidFill>
          <a:ln w="12700">
            <a:solidFill>
              <a:srgbClr val="EDF5F5"/>
            </a:solidFill>
            <a:prstDash val="solid"/>
          </a:ln>
          <a:effectLst>
            <a:outerShdw blurRad="127000" dist="25400" dir="5400000" algn="bl" rotWithShape="0">
              <a:srgbClr val="0C2E30">
                <a:alpha val="12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12" name="Text 9"/>
          <p:cNvSpPr/>
          <p:nvPr/>
        </p:nvSpPr>
        <p:spPr>
          <a:xfrm>
            <a:off x="7626096" y="3931920"/>
            <a:ext cx="3794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02809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실질 타깃은 서비스 예산이다</a:t>
            </a:r>
            <a:endParaRPr lang="en-US" sz="1250" dirty="0"/>
          </a:p>
        </p:txBody>
      </p:sp>
      <p:sp>
        <p:nvSpPr>
          <p:cNvPr id="13" name="Text 10"/>
          <p:cNvSpPr/>
          <p:nvPr/>
        </p:nvSpPr>
        <p:spPr>
          <a:xfrm>
            <a:off x="7626096" y="4224528"/>
            <a:ext cx="381304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400"/>
              </a:lnSpc>
              <a:buNone/>
            </a:pPr>
            <a:r>
              <a:rPr lang="en-US" sz="1000" dirty="0">
                <a:solidFill>
                  <a:srgbClr val="5E7B7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규제 아웃소싱 $4.3B는 RIM 소프트웨어의 1.7배. AI 네이티브 플랫폼이 잠식할 수 있는 가장 현실적인 예산 풀.</a:t>
            </a:r>
            <a:endParaRPr lang="en-US" sz="1000" dirty="0"/>
          </a:p>
        </p:txBody>
      </p:sp>
      <p:sp>
        <p:nvSpPr>
          <p:cNvPr id="14" name="Shape 11"/>
          <p:cNvSpPr/>
          <p:nvPr/>
        </p:nvSpPr>
        <p:spPr>
          <a:xfrm>
            <a:off x="566928" y="5138928"/>
            <a:ext cx="11073384" cy="896112"/>
          </a:xfrm>
          <a:prstGeom prst="roundRect">
            <a:avLst>
              <a:gd name="adj" fmla="val 8163"/>
            </a:avLst>
          </a:prstGeom>
          <a:solidFill>
            <a:srgbClr val="E2EFEF"/>
          </a:solidFill>
          <a:ln w="12700">
            <a:solidFill>
              <a:srgbClr val="E2EFEF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5" name="Text 12"/>
          <p:cNvSpPr/>
          <p:nvPr/>
        </p:nvSpPr>
        <p:spPr>
          <a:xfrm>
            <a:off x="804672" y="5248656"/>
            <a:ext cx="1060704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600"/>
              </a:lnSpc>
              <a:buNone/>
            </a:pPr>
            <a:r>
              <a:rPr lang="en-US" sz="1100" dirty="0">
                <a:solidFill>
                  <a:srgbClr val="1629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주의: RegTech 전체 시장은 리서치사별 CAGR이 6.75%~20%로 3배 차이 — 단일 수치 인용은 부적절. 본 계획은 수렴도가 높은 RIM 수치를 기준으로 함. 한국 시장의 독립적 규모 추정치는 공개 자료에 존재하지 않음.</a:t>
            </a:r>
            <a:endParaRPr lang="en-US" sz="1100" dirty="0"/>
          </a:p>
        </p:txBody>
      </p:sp>
      <p:sp>
        <p:nvSpPr>
          <p:cNvPr id="16" name="Text 13"/>
          <p:cNvSpPr/>
          <p:nvPr/>
        </p:nvSpPr>
        <p:spPr>
          <a:xfrm>
            <a:off x="566928" y="6382512"/>
            <a:ext cx="11064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E7B7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출처: Grand View Research·Precedence Research(RIM, 2025), Mordor Intelligence·Research and Markets(AI in Regulatory Affairs), Fact.MR(Healthcare Regulatory Affairs Outsourcing). 2030년 값은 각사 CAGR 적용 추정</a:t>
            </a:r>
            <a:endParaRPr lang="en-US" sz="900" dirty="0"/>
          </a:p>
        </p:txBody>
      </p:sp>
      <p:sp>
        <p:nvSpPr>
          <p:cNvPr id="17" name="Text 14"/>
          <p:cNvSpPr/>
          <p:nvPr/>
        </p:nvSpPr>
        <p:spPr>
          <a:xfrm>
            <a:off x="11430000" y="6382512"/>
            <a:ext cx="365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E7B7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5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29184"/>
            <a:ext cx="10515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02809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COMPETITIVE LANDSCAPE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21792"/>
            <a:ext cx="106070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629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2026년 상반기, 경쟁 지형이 동시에 흔들렸다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66928" y="1517904"/>
            <a:ext cx="3538728" cy="1810512"/>
          </a:xfrm>
          <a:prstGeom prst="roundRect">
            <a:avLst>
              <a:gd name="adj" fmla="val 4040"/>
            </a:avLst>
          </a:prstGeom>
          <a:solidFill>
            <a:srgbClr val="FFFFFF"/>
          </a:solidFill>
          <a:ln w="12700">
            <a:solidFill>
              <a:srgbClr val="DCE8E8"/>
            </a:solidFill>
            <a:prstDash val="solid"/>
          </a:ln>
          <a:effectLst>
            <a:outerShdw blurRad="127000" dist="25400" dir="5400000" algn="bl" rotWithShape="0">
              <a:srgbClr val="0C2E30">
                <a:alpha val="12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5" name="Text 3"/>
          <p:cNvSpPr/>
          <p:nvPr/>
        </p:nvSpPr>
        <p:spPr>
          <a:xfrm>
            <a:off x="786384" y="1645920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kern="0" spc="100" dirty="0">
                <a:solidFill>
                  <a:srgbClr val="00A89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2026.06</a:t>
            </a:r>
            <a:endParaRPr lang="en-US" sz="1050" dirty="0"/>
          </a:p>
        </p:txBody>
      </p:sp>
      <p:sp>
        <p:nvSpPr>
          <p:cNvPr id="6" name="Text 4"/>
          <p:cNvSpPr/>
          <p:nvPr/>
        </p:nvSpPr>
        <p:spPr>
          <a:xfrm>
            <a:off x="786384" y="1938528"/>
            <a:ext cx="312724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900"/>
              </a:lnSpc>
              <a:buNone/>
            </a:pPr>
            <a:r>
              <a:rPr lang="en-US" sz="1400" b="1" dirty="0">
                <a:solidFill>
                  <a:srgbClr val="1629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Collate $95M 조달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786384" y="2523744"/>
            <a:ext cx="312724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400"/>
              </a:lnSpc>
              <a:buNone/>
            </a:pPr>
            <a:r>
              <a:rPr lang="en-US" sz="1000" dirty="0">
                <a:solidFill>
                  <a:srgbClr val="5E7B7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기업가치 약 $1B 근접. AI 네이티브 규제 문서 자동화, 출시 1년 만에 약 50개 고객사 확보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4306824" y="1517904"/>
            <a:ext cx="3538728" cy="1810512"/>
          </a:xfrm>
          <a:prstGeom prst="roundRect">
            <a:avLst>
              <a:gd name="adj" fmla="val 4040"/>
            </a:avLst>
          </a:prstGeom>
          <a:solidFill>
            <a:srgbClr val="FFFFFF"/>
          </a:solidFill>
          <a:ln w="12700">
            <a:solidFill>
              <a:srgbClr val="DCE8E8"/>
            </a:solidFill>
            <a:prstDash val="solid"/>
          </a:ln>
          <a:effectLst>
            <a:outerShdw blurRad="127000" dist="25400" dir="5400000" algn="bl" rotWithShape="0">
              <a:srgbClr val="0C2E30">
                <a:alpha val="12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9" name="Text 7"/>
          <p:cNvSpPr/>
          <p:nvPr/>
        </p:nvSpPr>
        <p:spPr>
          <a:xfrm>
            <a:off x="4526280" y="1645920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kern="0" spc="100" dirty="0">
                <a:solidFill>
                  <a:srgbClr val="C2553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2026.07.06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4526280" y="1938528"/>
            <a:ext cx="312724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900"/>
              </a:lnSpc>
              <a:buNone/>
            </a:pPr>
            <a:r>
              <a:rPr lang="en-US" sz="1400" b="1" dirty="0">
                <a:solidFill>
                  <a:srgbClr val="1629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Clarivate 라이프사이언스 부문 매각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4526280" y="2523744"/>
            <a:ext cx="312724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400"/>
              </a:lnSpc>
              <a:buNone/>
            </a:pPr>
            <a:r>
              <a:rPr lang="en-US" sz="1000" dirty="0">
                <a:solidFill>
                  <a:srgbClr val="5E7B7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Altaris에 $600M — 매출(약 $360~380M) 대비 약 1.6배. Cortellis 등 정적 규제 콘텐츠 사업의 재평가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8046720" y="1517904"/>
            <a:ext cx="3538728" cy="1810512"/>
          </a:xfrm>
          <a:prstGeom prst="roundRect">
            <a:avLst>
              <a:gd name="adj" fmla="val 4040"/>
            </a:avLst>
          </a:prstGeom>
          <a:solidFill>
            <a:srgbClr val="FFFFFF"/>
          </a:solidFill>
          <a:ln w="12700">
            <a:solidFill>
              <a:srgbClr val="DCE8E8"/>
            </a:solidFill>
            <a:prstDash val="solid"/>
          </a:ln>
          <a:effectLst>
            <a:outerShdw blurRad="127000" dist="25400" dir="5400000" algn="bl" rotWithShape="0">
              <a:srgbClr val="0C2E30">
                <a:alpha val="12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13" name="Text 11"/>
          <p:cNvSpPr/>
          <p:nvPr/>
        </p:nvSpPr>
        <p:spPr>
          <a:xfrm>
            <a:off x="8266176" y="1645920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kern="0" spc="100" dirty="0">
                <a:solidFill>
                  <a:srgbClr val="C98A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2026.07.23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8266176" y="1938528"/>
            <a:ext cx="312724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900"/>
              </a:lnSpc>
              <a:buNone/>
            </a:pPr>
            <a:r>
              <a:rPr lang="en-US" sz="1400" b="1" dirty="0">
                <a:solidFill>
                  <a:srgbClr val="1629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Dassault, ArisGlobal 인수 합의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8266176" y="2523744"/>
            <a:ext cx="312724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400"/>
              </a:lnSpc>
              <a:buNone/>
            </a:pPr>
            <a:r>
              <a:rPr lang="en-US" sz="1000" dirty="0">
                <a:solidFill>
                  <a:srgbClr val="5E7B7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매출 약 $175M, 200+ 엔터프라이즈 고객. 대형 산업 SW 기업의 규제 도메인 직접 진입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566928" y="3529584"/>
            <a:ext cx="5559552" cy="2468880"/>
          </a:xfrm>
          <a:prstGeom prst="roundRect">
            <a:avLst>
              <a:gd name="adj" fmla="val 2963"/>
            </a:avLst>
          </a:prstGeom>
          <a:solidFill>
            <a:srgbClr val="EDF5F5"/>
          </a:solidFill>
          <a:ln w="12700">
            <a:solidFill>
              <a:srgbClr val="EDF5F5"/>
            </a:solidFill>
            <a:prstDash val="solid"/>
          </a:ln>
          <a:effectLst>
            <a:outerShdw blurRad="127000" dist="25400" dir="5400000" algn="bl" rotWithShape="0">
              <a:srgbClr val="0C2E30">
                <a:alpha val="12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17" name="Text 15"/>
          <p:cNvSpPr/>
          <p:nvPr/>
        </p:nvSpPr>
        <p:spPr>
          <a:xfrm>
            <a:off x="804672" y="3639312"/>
            <a:ext cx="50292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629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Veeva — 넘어야 할 기준선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804672" y="4023360"/>
            <a:ext cx="50749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ts val="1600"/>
              </a:lnSpc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1629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FY2026 매출 $3,195M, R&amp;D·품질 구독 $1,427M (전체의 과반)</a:t>
            </a:r>
            <a:endParaRPr lang="en-US" sz="1100" dirty="0"/>
          </a:p>
          <a:p>
            <a:pPr marL="342900" indent="-342900">
              <a:lnSpc>
                <a:spcPts val="1600"/>
              </a:lnSpc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1629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RIM 450개사 이상 도입, 글로벌 상위 20개 제약사 중 19개사</a:t>
            </a:r>
            <a:endParaRPr lang="en-US" sz="1100" dirty="0"/>
          </a:p>
          <a:p>
            <a:pPr marL="342900" indent="-342900">
              <a:lnSpc>
                <a:spcPts val="1600"/>
              </a:lnSpc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1629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R&amp;D·품질 고객당 연 구독 약 $1.19M (공시 기반 산출)</a:t>
            </a:r>
            <a:endParaRPr lang="en-US" sz="1100" dirty="0"/>
          </a:p>
          <a:p>
            <a:pPr marL="342900" indent="-342900">
              <a:lnSpc>
                <a:spcPts val="1600"/>
              </a:lnSpc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1629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전환장벽: 스위트 통합 + GxP 재밸리데이션 비용 + 장기계약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804672" y="5486400"/>
            <a:ext cx="50749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02809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정면 대체가 아니라, Veeva가 아직 덮지 못한 '변화 감지 → 영향 분석' 구간을 선점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6309360" y="3529584"/>
            <a:ext cx="5330952" cy="2468880"/>
          </a:xfrm>
          <a:prstGeom prst="roundRect">
            <a:avLst>
              <a:gd name="adj" fmla="val 2963"/>
            </a:avLst>
          </a:prstGeom>
          <a:solidFill>
            <a:srgbClr val="0C2E30"/>
          </a:solidFill>
          <a:ln w="12700">
            <a:solidFill>
              <a:srgbClr val="0C2E3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1" name="Text 19"/>
          <p:cNvSpPr/>
          <p:nvPr/>
        </p:nvSpPr>
        <p:spPr>
          <a:xfrm>
            <a:off x="6547104" y="3639312"/>
            <a:ext cx="48463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02C39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확보 가능한 시간 창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6547104" y="3986784"/>
            <a:ext cx="48463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약 18개월</a:t>
            </a:r>
            <a:endParaRPr lang="en-US" sz="3400" dirty="0"/>
          </a:p>
        </p:txBody>
      </p:sp>
      <p:sp>
        <p:nvSpPr>
          <p:cNvPr id="23" name="Text 21"/>
          <p:cNvSpPr/>
          <p:nvPr/>
        </p:nvSpPr>
        <p:spPr>
          <a:xfrm>
            <a:off x="6547104" y="4626864"/>
            <a:ext cx="4864608" cy="12435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ts val="1500"/>
              </a:lnSpc>
              <a:spcAft>
                <a:spcPts val="600"/>
              </a:spcAft>
              <a:buSzPct val="100000"/>
              <a:buChar char="•"/>
            </a:pPr>
            <a:r>
              <a:rPr lang="en-US" sz="1050" dirty="0">
                <a:solidFill>
                  <a:srgbClr val="C7E3E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Veeva Falcon(에이전틱 AI): 2026년 말 얼리어답터 대상</a:t>
            </a:r>
            <a:endParaRPr lang="en-US" sz="1050" dirty="0"/>
          </a:p>
          <a:p>
            <a:pPr marL="342900" indent="-342900">
              <a:lnSpc>
                <a:spcPts val="1500"/>
              </a:lnSpc>
              <a:spcAft>
                <a:spcPts val="600"/>
              </a:spcAft>
              <a:buSzPct val="100000"/>
              <a:buChar char="•"/>
            </a:pPr>
            <a:r>
              <a:rPr lang="en-US" sz="1050" dirty="0">
                <a:solidFill>
                  <a:srgbClr val="C7E3E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Agentic Authoring(문서 자동 작성): 2027년 말 예정</a:t>
            </a:r>
            <a:endParaRPr lang="en-US" sz="1050" dirty="0"/>
          </a:p>
          <a:p>
            <a:pPr marL="342900" indent="-342900">
              <a:lnSpc>
                <a:spcPts val="1500"/>
              </a:lnSpc>
              <a:spcAft>
                <a:spcPts val="600"/>
              </a:spcAft>
              <a:buSzPct val="100000"/>
              <a:buChar char="•"/>
            </a:pPr>
            <a:r>
              <a:rPr lang="en-US" sz="1050" dirty="0">
                <a:solidFill>
                  <a:srgbClr val="C7E3E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 구간에 레퍼런스 고객과 데이터 자산을 확보하지 못하면, 이후에는 스위트 번들과 경쟁해야 함</a:t>
            </a:r>
            <a:endParaRPr lang="en-US" sz="1050" dirty="0"/>
          </a:p>
        </p:txBody>
      </p:sp>
      <p:sp>
        <p:nvSpPr>
          <p:cNvPr id="24" name="Text 22"/>
          <p:cNvSpPr/>
          <p:nvPr/>
        </p:nvSpPr>
        <p:spPr>
          <a:xfrm>
            <a:off x="566928" y="6382512"/>
            <a:ext cx="11064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E7B7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출처: Veeva FY2026 Q4 실적발표 및 FY2027 Q1 실적, Clarivate 매각 공시(2026.7.6), Nordic Capital·Dassault Systèmes 발표(2026.7.23), Forbes(Collate, 2026.6), Veeva R&amp;D and Quality Summit 2026 발표 내용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11430000" y="6382512"/>
            <a:ext cx="365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E7B7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6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29184"/>
            <a:ext cx="10515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02809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PLATFORM VISION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21792"/>
            <a:ext cx="106070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629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하나의 규제 지식 레이어 위에 4개의 활용 축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66928" y="1517904"/>
            <a:ext cx="5468112" cy="2029968"/>
          </a:xfrm>
          <a:prstGeom prst="roundRect">
            <a:avLst>
              <a:gd name="adj" fmla="val 3604"/>
            </a:avLst>
          </a:prstGeom>
          <a:solidFill>
            <a:srgbClr val="EDF5F5"/>
          </a:solidFill>
          <a:ln w="12700">
            <a:solidFill>
              <a:srgbClr val="EDF5F5"/>
            </a:solidFill>
            <a:prstDash val="solid"/>
          </a:ln>
          <a:effectLst>
            <a:outerShdw blurRad="127000" dist="25400" dir="5400000" algn="bl" rotWithShape="0">
              <a:srgbClr val="0C2E30">
                <a:alpha val="12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5" name="Shape 3"/>
          <p:cNvSpPr/>
          <p:nvPr/>
        </p:nvSpPr>
        <p:spPr>
          <a:xfrm>
            <a:off x="822960" y="1755648"/>
            <a:ext cx="420624" cy="420624"/>
          </a:xfrm>
          <a:prstGeom prst="ellipse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" name="Text 4"/>
          <p:cNvSpPr/>
          <p:nvPr/>
        </p:nvSpPr>
        <p:spPr>
          <a:xfrm>
            <a:off x="822960" y="1755648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01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1389888" y="1737360"/>
            <a:ext cx="4480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629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규제 변화 모니터링 &amp; 알림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822960" y="2286000"/>
            <a:ext cx="4974336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600"/>
              </a:lnSpc>
              <a:buNone/>
            </a:pPr>
            <a:r>
              <a:rPr lang="en-US" sz="1100" dirty="0">
                <a:solidFill>
                  <a:srgbClr val="5E7B7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규제기관 원문을 수집·정규화하고 변경분(diff)을 추출. 제품·시장·사업부 프로파일에 매칭해 영향받는 조직에만 자동 통지.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822960" y="3090672"/>
            <a:ext cx="497433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2809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산출물: 일간 변경 브리핑, 영향도 등급, 담당자 지정 티켓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6172200" y="1517904"/>
            <a:ext cx="5468112" cy="2029968"/>
          </a:xfrm>
          <a:prstGeom prst="roundRect">
            <a:avLst>
              <a:gd name="adj" fmla="val 3604"/>
            </a:avLst>
          </a:prstGeom>
          <a:solidFill>
            <a:srgbClr val="EDF5F5"/>
          </a:solidFill>
          <a:ln w="12700">
            <a:solidFill>
              <a:srgbClr val="EDF5F5"/>
            </a:solidFill>
            <a:prstDash val="solid"/>
          </a:ln>
          <a:effectLst>
            <a:outerShdw blurRad="127000" dist="25400" dir="5400000" algn="bl" rotWithShape="0">
              <a:srgbClr val="0C2E30">
                <a:alpha val="12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11" name="Shape 9"/>
          <p:cNvSpPr/>
          <p:nvPr/>
        </p:nvSpPr>
        <p:spPr>
          <a:xfrm>
            <a:off x="6428232" y="1755648"/>
            <a:ext cx="420624" cy="420624"/>
          </a:xfrm>
          <a:prstGeom prst="ellipse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2" name="Text 10"/>
          <p:cNvSpPr/>
          <p:nvPr/>
        </p:nvSpPr>
        <p:spPr>
          <a:xfrm>
            <a:off x="6428232" y="1755648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02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6995160" y="1737360"/>
            <a:ext cx="4480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629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규제 Q&amp;A / RAG 어시스턴트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6428232" y="2286000"/>
            <a:ext cx="4974336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600"/>
              </a:lnSpc>
              <a:buNone/>
            </a:pPr>
            <a:r>
              <a:rPr lang="en-US" sz="1100" dirty="0">
                <a:solidFill>
                  <a:srgbClr val="5E7B7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자연어 질의에 대해 근거 조문·문서 버전·발효일을 함께 제시. 근거 없는 답변은 생성하지 않고 '확인 필요'로 반환.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6428232" y="3090672"/>
            <a:ext cx="497433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0A89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산출물: 인용 포함 답변, 원문 딥링크, 질의 이력 감사추적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566928" y="3730752"/>
            <a:ext cx="5468112" cy="2029968"/>
          </a:xfrm>
          <a:prstGeom prst="roundRect">
            <a:avLst>
              <a:gd name="adj" fmla="val 3604"/>
            </a:avLst>
          </a:prstGeom>
          <a:solidFill>
            <a:srgbClr val="EDF5F5"/>
          </a:solidFill>
          <a:ln w="12700">
            <a:solidFill>
              <a:srgbClr val="EDF5F5"/>
            </a:solidFill>
            <a:prstDash val="solid"/>
          </a:ln>
          <a:effectLst>
            <a:outerShdw blurRad="127000" dist="25400" dir="5400000" algn="bl" rotWithShape="0">
              <a:srgbClr val="0C2E30">
                <a:alpha val="12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17" name="Shape 15"/>
          <p:cNvSpPr/>
          <p:nvPr/>
        </p:nvSpPr>
        <p:spPr>
          <a:xfrm>
            <a:off x="822960" y="3968496"/>
            <a:ext cx="420624" cy="420624"/>
          </a:xfrm>
          <a:prstGeom prst="ellipse">
            <a:avLst/>
          </a:prstGeom>
          <a:solidFill>
            <a:srgbClr val="C98A2E"/>
          </a:solidFill>
          <a:ln w="12700">
            <a:solidFill>
              <a:srgbClr val="C98A2E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8" name="Text 16"/>
          <p:cNvSpPr/>
          <p:nvPr/>
        </p:nvSpPr>
        <p:spPr>
          <a:xfrm>
            <a:off x="822960" y="3968496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03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1389888" y="3950208"/>
            <a:ext cx="4480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629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컴플라이언스 갭 분석 &amp; 통제 매핑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822960" y="4498848"/>
            <a:ext cx="4974336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600"/>
              </a:lnSpc>
              <a:buNone/>
            </a:pPr>
            <a:r>
              <a:rPr lang="en-US" sz="1100" dirty="0">
                <a:solidFill>
                  <a:srgbClr val="5E7B7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규제 요건을 구조화된 요구사항으로 분해하고 사내 SOP·통제·기술문서에 매핑. 개정 시 영향 범위와 미준수 항목을 자동 산출.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822960" y="5303520"/>
            <a:ext cx="497433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C98A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산출물: 요건-통제 매트릭스, 갭 리포트, 조치 과제 목록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6172200" y="3730752"/>
            <a:ext cx="5468112" cy="2029968"/>
          </a:xfrm>
          <a:prstGeom prst="roundRect">
            <a:avLst>
              <a:gd name="adj" fmla="val 3604"/>
            </a:avLst>
          </a:prstGeom>
          <a:solidFill>
            <a:srgbClr val="EDF5F5"/>
          </a:solidFill>
          <a:ln w="12700">
            <a:solidFill>
              <a:srgbClr val="EDF5F5"/>
            </a:solidFill>
            <a:prstDash val="solid"/>
          </a:ln>
          <a:effectLst>
            <a:outerShdw blurRad="127000" dist="25400" dir="5400000" algn="bl" rotWithShape="0">
              <a:srgbClr val="0C2E30">
                <a:alpha val="12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23" name="Shape 21"/>
          <p:cNvSpPr/>
          <p:nvPr/>
        </p:nvSpPr>
        <p:spPr>
          <a:xfrm>
            <a:off x="6428232" y="3968496"/>
            <a:ext cx="420624" cy="420624"/>
          </a:xfrm>
          <a:prstGeom prst="ellipse">
            <a:avLst/>
          </a:prstGeom>
          <a:solidFill>
            <a:srgbClr val="C2553F"/>
          </a:solidFill>
          <a:ln w="12700">
            <a:solidFill>
              <a:srgbClr val="C2553F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4" name="Text 22"/>
          <p:cNvSpPr/>
          <p:nvPr/>
        </p:nvSpPr>
        <p:spPr>
          <a:xfrm>
            <a:off x="6428232" y="3968496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04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6995160" y="3950208"/>
            <a:ext cx="4480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629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외부 고객 대상 SaaS 제품화</a:t>
            </a:r>
            <a:endParaRPr lang="en-US" sz="1500" dirty="0"/>
          </a:p>
        </p:txBody>
      </p:sp>
      <p:sp>
        <p:nvSpPr>
          <p:cNvPr id="26" name="Text 24"/>
          <p:cNvSpPr/>
          <p:nvPr/>
        </p:nvSpPr>
        <p:spPr>
          <a:xfrm>
            <a:off x="6428232" y="4498848"/>
            <a:ext cx="4974336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600"/>
              </a:lnSpc>
              <a:buNone/>
            </a:pPr>
            <a:r>
              <a:rPr lang="en-US" sz="1100" dirty="0">
                <a:solidFill>
                  <a:srgbClr val="5E7B7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내부에서 검증된 워크플로를 멀티테넌트로 전환. 국내 제약·의료기기 기업 및 CRO/컨설팅사를 1차 타깃으로 상용화.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6428232" y="5303520"/>
            <a:ext cx="497433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C2553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산출물: 테넌트 격리, 밸리데이션 패키지, 파트너 API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566928" y="6035040"/>
            <a:ext cx="1107338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2809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01–03은 내부 가치 검증 단계, 04는 동일 코어를 외부로 확장하는 단계 — 별도 제품이 아니라 같은 지식 레이어의 배포 형태 차이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11430000" y="6382512"/>
            <a:ext cx="365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E7B7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7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29184"/>
            <a:ext cx="10515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02809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DATA STRATEGY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21792"/>
            <a:ext cx="106070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629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데이터 소스는 4개 티어로 나뉘고, 마지막 티어는 넘지 않는다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66928" y="1481328"/>
            <a:ext cx="11073384" cy="1024128"/>
          </a:xfrm>
          <a:prstGeom prst="roundRect">
            <a:avLst>
              <a:gd name="adj" fmla="val 7143"/>
            </a:avLst>
          </a:prstGeom>
          <a:solidFill>
            <a:srgbClr val="EDF5F5"/>
          </a:solidFill>
          <a:ln w="12700">
            <a:solidFill>
              <a:srgbClr val="EDF5F5"/>
            </a:solidFill>
            <a:prstDash val="solid"/>
          </a:ln>
          <a:effectLst>
            <a:outerShdw blurRad="127000" dist="25400" dir="5400000" algn="bl" rotWithShape="0">
              <a:srgbClr val="0C2E30">
                <a:alpha val="12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5" name="Shape 3"/>
          <p:cNvSpPr/>
          <p:nvPr/>
        </p:nvSpPr>
        <p:spPr>
          <a:xfrm>
            <a:off x="786384" y="1773936"/>
            <a:ext cx="1060704" cy="402336"/>
          </a:xfrm>
          <a:prstGeom prst="roundRect">
            <a:avLst>
              <a:gd name="adj" fmla="val 18182"/>
            </a:avLst>
          </a:prstGeom>
          <a:solidFill>
            <a:srgbClr val="028090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" name="Text 4"/>
          <p:cNvSpPr/>
          <p:nvPr/>
        </p:nvSpPr>
        <p:spPr>
          <a:xfrm>
            <a:off x="786384" y="1773936"/>
            <a:ext cx="106070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TIER A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2029968" y="1609344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629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공개 API — 즉시 수집 가능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2029968" y="1956816"/>
            <a:ext cx="60350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300"/>
              </a:lnSpc>
              <a:buNone/>
            </a:pPr>
            <a:r>
              <a:rPr lang="en-US" sz="950" dirty="0">
                <a:solidFill>
                  <a:srgbClr val="5E7B7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openFDA(의약품·의료기기·MAUDE·510(k)·PMA), Federal Register API, Regulations.gov API, Health Canada MDALL, 한국 국가법령정보 OPEN API, 공공데이터포털 MFDS 데이터셋</a:t>
            </a:r>
            <a:endParaRPr lang="en-US" sz="950" dirty="0"/>
          </a:p>
        </p:txBody>
      </p:sp>
      <p:sp>
        <p:nvSpPr>
          <p:cNvPr id="9" name="Text 7"/>
          <p:cNvSpPr/>
          <p:nvPr/>
        </p:nvSpPr>
        <p:spPr>
          <a:xfrm>
            <a:off x="8229600" y="1627632"/>
            <a:ext cx="320040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400"/>
              </a:lnSpc>
              <a:buNone/>
            </a:pPr>
            <a:r>
              <a:rPr lang="en-US" sz="1000" b="1" dirty="0">
                <a:solidFill>
                  <a:srgbClr val="02809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openFDA 대부분 CC0 — 상업적 재배포 가능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566928" y="2615184"/>
            <a:ext cx="11073384" cy="1024128"/>
          </a:xfrm>
          <a:prstGeom prst="roundRect">
            <a:avLst>
              <a:gd name="adj" fmla="val 7143"/>
            </a:avLst>
          </a:prstGeom>
          <a:solidFill>
            <a:srgbClr val="EDF5F5"/>
          </a:solidFill>
          <a:ln w="12700">
            <a:solidFill>
              <a:srgbClr val="EDF5F5"/>
            </a:solidFill>
            <a:prstDash val="solid"/>
          </a:ln>
          <a:effectLst>
            <a:outerShdw blurRad="127000" dist="25400" dir="5400000" algn="bl" rotWithShape="0">
              <a:srgbClr val="0C2E30">
                <a:alpha val="12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11" name="Shape 9"/>
          <p:cNvSpPr/>
          <p:nvPr/>
        </p:nvSpPr>
        <p:spPr>
          <a:xfrm>
            <a:off x="786384" y="2907792"/>
            <a:ext cx="1060704" cy="402336"/>
          </a:xfrm>
          <a:prstGeom prst="roundRect">
            <a:avLst>
              <a:gd name="adj" fmla="val 18182"/>
            </a:avLst>
          </a:prstGeom>
          <a:solidFill>
            <a:srgbClr val="00A896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2" name="Text 10"/>
          <p:cNvSpPr/>
          <p:nvPr/>
        </p:nvSpPr>
        <p:spPr>
          <a:xfrm>
            <a:off x="786384" y="2907792"/>
            <a:ext cx="106070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TIER B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2029968" y="2743200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629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정적 파일 / RSS — 배치 수집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2029968" y="3090672"/>
            <a:ext cx="60350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300"/>
              </a:lnSpc>
              <a:buNone/>
            </a:pPr>
            <a:r>
              <a:rPr lang="en-US" sz="950" dirty="0">
                <a:solidFill>
                  <a:srgbClr val="5E7B7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EMA 공개 JSON(1일 2회 갱신), FDA Orange/Purple Book, FDA AI 의료기기 목록, MFDS RSS(고시·입법예고·제개정)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8229600" y="2761488"/>
            <a:ext cx="320040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400"/>
              </a:lnSpc>
              <a:buNone/>
            </a:pPr>
            <a:r>
              <a:rPr lang="en-US" sz="1000" b="1" dirty="0">
                <a:solidFill>
                  <a:srgbClr val="00A89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라이선스 조건 개별 확인 필요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566928" y="3749040"/>
            <a:ext cx="11073384" cy="1024128"/>
          </a:xfrm>
          <a:prstGeom prst="roundRect">
            <a:avLst>
              <a:gd name="adj" fmla="val 7143"/>
            </a:avLst>
          </a:prstGeom>
          <a:solidFill>
            <a:srgbClr val="EDF5F5"/>
          </a:solidFill>
          <a:ln w="12700">
            <a:solidFill>
              <a:srgbClr val="EDF5F5"/>
            </a:solidFill>
            <a:prstDash val="solid"/>
          </a:ln>
          <a:effectLst>
            <a:outerShdw blurRad="127000" dist="25400" dir="5400000" algn="bl" rotWithShape="0">
              <a:srgbClr val="0C2E30">
                <a:alpha val="12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17" name="Shape 15"/>
          <p:cNvSpPr/>
          <p:nvPr/>
        </p:nvSpPr>
        <p:spPr>
          <a:xfrm>
            <a:off x="786384" y="4041648"/>
            <a:ext cx="1060704" cy="402336"/>
          </a:xfrm>
          <a:prstGeom prst="roundRect">
            <a:avLst>
              <a:gd name="adj" fmla="val 18182"/>
            </a:avLst>
          </a:prstGeom>
          <a:solidFill>
            <a:srgbClr val="C98A2E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8" name="Text 16"/>
          <p:cNvSpPr/>
          <p:nvPr/>
        </p:nvSpPr>
        <p:spPr>
          <a:xfrm>
            <a:off x="786384" y="4041648"/>
            <a:ext cx="106070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TIER C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2029968" y="3877056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629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스크래핑 — 취약성 관리 필요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2029968" y="4224528"/>
            <a:ext cx="60350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300"/>
              </a:lnSpc>
              <a:buNone/>
            </a:pPr>
            <a:r>
              <a:rPr lang="en-US" sz="950" dirty="0">
                <a:solidFill>
                  <a:srgbClr val="5E7B7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FDA 가이던스 DB·경고장·Form 483, EUDAMED(공식 API 없음), PMDA, NMPA, MHRA, TGA, MDCG 가이던스, ICH·IMDRF PDF</a:t>
            </a:r>
            <a:endParaRPr lang="en-US" sz="950" dirty="0"/>
          </a:p>
        </p:txBody>
      </p:sp>
      <p:sp>
        <p:nvSpPr>
          <p:cNvPr id="21" name="Text 19"/>
          <p:cNvSpPr/>
          <p:nvPr/>
        </p:nvSpPr>
        <p:spPr>
          <a:xfrm>
            <a:off x="8229600" y="3895344"/>
            <a:ext cx="320040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400"/>
              </a:lnSpc>
              <a:buNone/>
            </a:pPr>
            <a:r>
              <a:rPr lang="en-US" sz="1000" b="1" dirty="0">
                <a:solidFill>
                  <a:srgbClr val="C98A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구조 변경 감지·복구 파이프라인 필수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566928" y="4882896"/>
            <a:ext cx="11073384" cy="1024128"/>
          </a:xfrm>
          <a:prstGeom prst="roundRect">
            <a:avLst>
              <a:gd name="adj" fmla="val 7143"/>
            </a:avLst>
          </a:prstGeom>
          <a:solidFill>
            <a:srgbClr val="FBF1EE"/>
          </a:solidFill>
          <a:ln w="12700">
            <a:solidFill>
              <a:srgbClr val="FBF1EE"/>
            </a:solidFill>
            <a:prstDash val="solid"/>
          </a:ln>
          <a:effectLst>
            <a:outerShdw blurRad="127000" dist="25400" dir="5400000" algn="bl" rotWithShape="0">
              <a:srgbClr val="0C2E30">
                <a:alpha val="12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23" name="Shape 21"/>
          <p:cNvSpPr/>
          <p:nvPr/>
        </p:nvSpPr>
        <p:spPr>
          <a:xfrm>
            <a:off x="786384" y="5175504"/>
            <a:ext cx="1060704" cy="402336"/>
          </a:xfrm>
          <a:prstGeom prst="roundRect">
            <a:avLst>
              <a:gd name="adj" fmla="val 18182"/>
            </a:avLst>
          </a:prstGeom>
          <a:solidFill>
            <a:srgbClr val="C2553F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4" name="Text 22"/>
          <p:cNvSpPr/>
          <p:nvPr/>
        </p:nvSpPr>
        <p:spPr>
          <a:xfrm>
            <a:off x="786384" y="5175504"/>
            <a:ext cx="106070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TIER D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2029968" y="5010912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629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저작권 보호 — 원문 수집 금지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2029968" y="5358384"/>
            <a:ext cx="60350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300"/>
              </a:lnSpc>
              <a:buNone/>
            </a:pPr>
            <a:r>
              <a:rPr lang="en-US" sz="950" dirty="0">
                <a:solidFill>
                  <a:srgbClr val="5E7B7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ISO 13485 / 14971, IEC 62304 / 60601 / 62366, ISO 27001, USP-NF, Ph.Eur. 등 표준·약전</a:t>
            </a:r>
            <a:endParaRPr lang="en-US" sz="950" dirty="0"/>
          </a:p>
        </p:txBody>
      </p:sp>
      <p:sp>
        <p:nvSpPr>
          <p:cNvPr id="27" name="Text 25"/>
          <p:cNvSpPr/>
          <p:nvPr/>
        </p:nvSpPr>
        <p:spPr>
          <a:xfrm>
            <a:off x="8229600" y="5029200"/>
            <a:ext cx="320040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400"/>
              </a:lnSpc>
              <a:buNone/>
            </a:pPr>
            <a:r>
              <a:rPr lang="en-US" sz="1000" b="1" dirty="0">
                <a:solidFill>
                  <a:srgbClr val="C2553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ISO는 AI 학습 목적 사용을 명시적으로 금지 → 메타데이터·개정이력·인용만 다루고 정품 링크로 연결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566928" y="5943600"/>
            <a:ext cx="11073384" cy="402336"/>
          </a:xfrm>
          <a:prstGeom prst="roundRect">
            <a:avLst>
              <a:gd name="adj" fmla="val 18182"/>
            </a:avLst>
          </a:prstGeom>
          <a:solidFill>
            <a:srgbClr val="0C2E30"/>
          </a:solidFill>
          <a:ln w="12700">
            <a:solidFill>
              <a:srgbClr val="0C2E3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9" name="Text 27"/>
          <p:cNvSpPr/>
          <p:nvPr/>
        </p:nvSpPr>
        <p:spPr>
          <a:xfrm>
            <a:off x="804672" y="5943600"/>
            <a:ext cx="106070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C7E3E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Tier D를 제품 경계선으로 명시하는 것이 리스크가 아니라 신뢰의 근거 — '무엇을 수집하지 않는가'를 계약서에 쓸 수 있어야 규제 고객이 산다</a:t>
            </a:r>
            <a:endParaRPr lang="en-US" sz="1050" dirty="0"/>
          </a:p>
        </p:txBody>
      </p:sp>
      <p:sp>
        <p:nvSpPr>
          <p:cNvPr id="30" name="Text 28"/>
          <p:cNvSpPr/>
          <p:nvPr/>
        </p:nvSpPr>
        <p:spPr>
          <a:xfrm>
            <a:off x="11430000" y="6382512"/>
            <a:ext cx="365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E7B7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8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C2E3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29184"/>
            <a:ext cx="10515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02C39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ARCHITECTURE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21792"/>
            <a:ext cx="106070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5개 레이어 — 수집에서 응용까지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66928" y="1481328"/>
            <a:ext cx="8686800" cy="768096"/>
          </a:xfrm>
          <a:prstGeom prst="roundRect">
            <a:avLst>
              <a:gd name="adj" fmla="val 9524"/>
            </a:avLst>
          </a:prstGeom>
          <a:solidFill>
            <a:srgbClr val="154244"/>
          </a:solidFill>
          <a:ln w="12700">
            <a:solidFill>
              <a:srgbClr val="2A5A5C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" name="Shape 3"/>
          <p:cNvSpPr/>
          <p:nvPr/>
        </p:nvSpPr>
        <p:spPr>
          <a:xfrm>
            <a:off x="786384" y="1664208"/>
            <a:ext cx="402336" cy="402336"/>
          </a:xfrm>
          <a:prstGeom prst="ellipse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" name="Text 4"/>
          <p:cNvSpPr/>
          <p:nvPr/>
        </p:nvSpPr>
        <p:spPr>
          <a:xfrm>
            <a:off x="786384" y="1664208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L1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1335024" y="1554480"/>
            <a:ext cx="76809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수집 (Ingestion)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1335024" y="1865376"/>
            <a:ext cx="76809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9FC6C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API 커넥터 · RSS · 스크래핑 워커 · 변경 감지 스케줄러 · 원문 불변 아카이브(WORM)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 rot="10800000">
            <a:off x="4791456" y="2267712"/>
            <a:ext cx="237744" cy="91440"/>
          </a:xfrm>
          <a:prstGeom prst="triangle">
            <a:avLst/>
          </a:prstGeom>
          <a:solidFill>
            <a:srgbClr val="3E7274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0" name="Shape 8"/>
          <p:cNvSpPr/>
          <p:nvPr/>
        </p:nvSpPr>
        <p:spPr>
          <a:xfrm>
            <a:off x="566928" y="2359152"/>
            <a:ext cx="8686800" cy="768096"/>
          </a:xfrm>
          <a:prstGeom prst="roundRect">
            <a:avLst>
              <a:gd name="adj" fmla="val 9524"/>
            </a:avLst>
          </a:prstGeom>
          <a:solidFill>
            <a:srgbClr val="154244"/>
          </a:solidFill>
          <a:ln w="12700">
            <a:solidFill>
              <a:srgbClr val="2A5A5C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1" name="Shape 9"/>
          <p:cNvSpPr/>
          <p:nvPr/>
        </p:nvSpPr>
        <p:spPr>
          <a:xfrm>
            <a:off x="786384" y="2542032"/>
            <a:ext cx="402336" cy="402336"/>
          </a:xfrm>
          <a:prstGeom prst="ellipse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2" name="Text 10"/>
          <p:cNvSpPr/>
          <p:nvPr/>
        </p:nvSpPr>
        <p:spPr>
          <a:xfrm>
            <a:off x="786384" y="2542032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L2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1335024" y="2432304"/>
            <a:ext cx="76809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정규화 (Normalization)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1335024" y="2743200"/>
            <a:ext cx="76809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9FC6C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문서 파싱 · 조문 단위 분할 · 다국어 번역(원문 병기) · 버전 관리 · 조문 단위 diff 추출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 rot="10800000">
            <a:off x="4791456" y="3145536"/>
            <a:ext cx="237744" cy="91440"/>
          </a:xfrm>
          <a:prstGeom prst="triangle">
            <a:avLst/>
          </a:prstGeom>
          <a:solidFill>
            <a:srgbClr val="3E7274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6" name="Shape 14"/>
          <p:cNvSpPr/>
          <p:nvPr/>
        </p:nvSpPr>
        <p:spPr>
          <a:xfrm>
            <a:off x="566928" y="3236976"/>
            <a:ext cx="8686800" cy="768096"/>
          </a:xfrm>
          <a:prstGeom prst="roundRect">
            <a:avLst>
              <a:gd name="adj" fmla="val 9524"/>
            </a:avLst>
          </a:prstGeom>
          <a:solidFill>
            <a:srgbClr val="154244"/>
          </a:solidFill>
          <a:ln w="12700">
            <a:solidFill>
              <a:srgbClr val="2A5A5C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7" name="Shape 15"/>
          <p:cNvSpPr/>
          <p:nvPr/>
        </p:nvSpPr>
        <p:spPr>
          <a:xfrm>
            <a:off x="786384" y="3419856"/>
            <a:ext cx="402336" cy="402336"/>
          </a:xfrm>
          <a:prstGeom prst="ellipse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8" name="Text 16"/>
          <p:cNvSpPr/>
          <p:nvPr/>
        </p:nvSpPr>
        <p:spPr>
          <a:xfrm>
            <a:off x="786384" y="3419856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L3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1335024" y="3310128"/>
            <a:ext cx="76809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규제 지식그래프 (Knowledge Graph)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1335024" y="3621024"/>
            <a:ext cx="76809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9FC6C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규제기관 · 법령/고시 · 조문 · 요구사항 · 제품군 · 시장 · 사내 SOP/통제를 엔티티로 연결. 개정 시 영향 전파 경로 계산</a:t>
            </a:r>
            <a:endParaRPr lang="en-US" sz="950" dirty="0"/>
          </a:p>
        </p:txBody>
      </p:sp>
      <p:sp>
        <p:nvSpPr>
          <p:cNvPr id="21" name="Shape 19"/>
          <p:cNvSpPr/>
          <p:nvPr/>
        </p:nvSpPr>
        <p:spPr>
          <a:xfrm rot="10800000">
            <a:off x="4791456" y="4023360"/>
            <a:ext cx="237744" cy="91440"/>
          </a:xfrm>
          <a:prstGeom prst="triangle">
            <a:avLst/>
          </a:prstGeom>
          <a:solidFill>
            <a:srgbClr val="3E7274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2" name="Shape 20"/>
          <p:cNvSpPr/>
          <p:nvPr/>
        </p:nvSpPr>
        <p:spPr>
          <a:xfrm>
            <a:off x="566928" y="4114800"/>
            <a:ext cx="8686800" cy="768096"/>
          </a:xfrm>
          <a:prstGeom prst="roundRect">
            <a:avLst>
              <a:gd name="adj" fmla="val 9524"/>
            </a:avLst>
          </a:prstGeom>
          <a:solidFill>
            <a:srgbClr val="154244"/>
          </a:solidFill>
          <a:ln w="12700">
            <a:solidFill>
              <a:srgbClr val="2A5A5C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3" name="Shape 21"/>
          <p:cNvSpPr/>
          <p:nvPr/>
        </p:nvSpPr>
        <p:spPr>
          <a:xfrm>
            <a:off x="786384" y="4297680"/>
            <a:ext cx="402336" cy="402336"/>
          </a:xfrm>
          <a:prstGeom prst="ellipse">
            <a:avLst/>
          </a:prstGeom>
          <a:solidFill>
            <a:srgbClr val="C98A2E"/>
          </a:solidFill>
          <a:ln w="12700">
            <a:solidFill>
              <a:srgbClr val="C98A2E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4" name="Text 22"/>
          <p:cNvSpPr/>
          <p:nvPr/>
        </p:nvSpPr>
        <p:spPr>
          <a:xfrm>
            <a:off x="786384" y="4297680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L4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1335024" y="4187952"/>
            <a:ext cx="76809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AI 레이어 (Retrieval &amp; Reasoning)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1335024" y="4498848"/>
            <a:ext cx="76809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9FC6C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하이브리드 검색(BM25+벡터) · 그래프 기반 컨텍스트 확장 · 인용 강제 생성 · 근거 검증 에이전트 · 답변 신뢰도 스코어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 rot="10800000">
            <a:off x="4791456" y="4901184"/>
            <a:ext cx="237744" cy="91440"/>
          </a:xfrm>
          <a:prstGeom prst="triangle">
            <a:avLst/>
          </a:prstGeom>
          <a:solidFill>
            <a:srgbClr val="3E7274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8" name="Shape 26"/>
          <p:cNvSpPr/>
          <p:nvPr/>
        </p:nvSpPr>
        <p:spPr>
          <a:xfrm>
            <a:off x="566928" y="4992624"/>
            <a:ext cx="8686800" cy="768096"/>
          </a:xfrm>
          <a:prstGeom prst="roundRect">
            <a:avLst>
              <a:gd name="adj" fmla="val 9524"/>
            </a:avLst>
          </a:prstGeom>
          <a:solidFill>
            <a:srgbClr val="154244"/>
          </a:solidFill>
          <a:ln w="12700">
            <a:solidFill>
              <a:srgbClr val="2A5A5C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9" name="Shape 27"/>
          <p:cNvSpPr/>
          <p:nvPr/>
        </p:nvSpPr>
        <p:spPr>
          <a:xfrm>
            <a:off x="786384" y="5175504"/>
            <a:ext cx="402336" cy="402336"/>
          </a:xfrm>
          <a:prstGeom prst="ellipse">
            <a:avLst/>
          </a:prstGeom>
          <a:solidFill>
            <a:srgbClr val="C2553F"/>
          </a:solidFill>
          <a:ln w="12700">
            <a:solidFill>
              <a:srgbClr val="C2553F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0" name="Text 28"/>
          <p:cNvSpPr/>
          <p:nvPr/>
        </p:nvSpPr>
        <p:spPr>
          <a:xfrm>
            <a:off x="786384" y="5175504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L5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1335024" y="5065776"/>
            <a:ext cx="76809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응용 (Applications)</a:t>
            </a:r>
            <a:endParaRPr lang="en-US" sz="1300" dirty="0"/>
          </a:p>
        </p:txBody>
      </p:sp>
      <p:sp>
        <p:nvSpPr>
          <p:cNvPr id="32" name="Text 30"/>
          <p:cNvSpPr/>
          <p:nvPr/>
        </p:nvSpPr>
        <p:spPr>
          <a:xfrm>
            <a:off x="1335024" y="5376672"/>
            <a:ext cx="76809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9FC6C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모니터링 대시보드 · Q&amp;A 어시스턴트 · 갭 분석 워크벤치 · 알림/티켓 연동 · 멀티테넌트 SaaS 포털 · 공개 API</a:t>
            </a:r>
            <a:endParaRPr lang="en-US" sz="950" dirty="0"/>
          </a:p>
        </p:txBody>
      </p:sp>
      <p:sp>
        <p:nvSpPr>
          <p:cNvPr id="33" name="Shape 31"/>
          <p:cNvSpPr/>
          <p:nvPr/>
        </p:nvSpPr>
        <p:spPr>
          <a:xfrm>
            <a:off x="9473184" y="1481328"/>
            <a:ext cx="2167128" cy="4059936"/>
          </a:xfrm>
          <a:prstGeom prst="roundRect">
            <a:avLst>
              <a:gd name="adj" fmla="val 3376"/>
            </a:avLst>
          </a:prstGeom>
          <a:solidFill>
            <a:srgbClr val="1B3E40"/>
          </a:solidFill>
          <a:ln w="12700">
            <a:solidFill>
              <a:srgbClr val="3E7274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4" name="Text 32"/>
          <p:cNvSpPr/>
          <p:nvPr/>
        </p:nvSpPr>
        <p:spPr>
          <a:xfrm>
            <a:off x="9692640" y="1609344"/>
            <a:ext cx="17830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kern="0" spc="100" dirty="0">
                <a:solidFill>
                  <a:srgbClr val="02C39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전 계층 공통 요건</a:t>
            </a:r>
            <a:endParaRPr lang="en-US" sz="1050" dirty="0"/>
          </a:p>
        </p:txBody>
      </p:sp>
      <p:sp>
        <p:nvSpPr>
          <p:cNvPr id="35" name="Text 33"/>
          <p:cNvSpPr/>
          <p:nvPr/>
        </p:nvSpPr>
        <p:spPr>
          <a:xfrm>
            <a:off x="9692640" y="2011680"/>
            <a:ext cx="1810512" cy="3383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ts val="1300"/>
              </a:lnSpc>
              <a:spcAft>
                <a:spcPts val="900"/>
              </a:spcAft>
              <a:buSzPct val="100000"/>
              <a:buChar char="•"/>
            </a:pPr>
            <a:r>
              <a:rPr lang="en-US" sz="950" dirty="0">
                <a:solidFill>
                  <a:srgbClr val="BFE3E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출처·버전 메타데이터 필수 보존</a:t>
            </a:r>
            <a:endParaRPr lang="en-US" sz="950" dirty="0"/>
          </a:p>
          <a:p>
            <a:pPr marL="342900" indent="-342900">
              <a:lnSpc>
                <a:spcPts val="1300"/>
              </a:lnSpc>
              <a:spcAft>
                <a:spcPts val="900"/>
              </a:spcAft>
              <a:buSzPct val="100000"/>
              <a:buChar char="•"/>
            </a:pPr>
            <a:r>
              <a:rPr lang="en-US" sz="950" dirty="0">
                <a:solidFill>
                  <a:srgbClr val="BFE3E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전 조회·생성 이력 감사추적</a:t>
            </a:r>
            <a:endParaRPr lang="en-US" sz="950" dirty="0"/>
          </a:p>
          <a:p>
            <a:pPr marL="342900" indent="-342900">
              <a:lnSpc>
                <a:spcPts val="1300"/>
              </a:lnSpc>
              <a:spcAft>
                <a:spcPts val="900"/>
              </a:spcAft>
              <a:buSzPct val="100000"/>
              <a:buChar char="•"/>
            </a:pPr>
            <a:r>
              <a:rPr lang="en-US" sz="950" dirty="0">
                <a:solidFill>
                  <a:srgbClr val="BFE3E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21 CFR Part 11 전자기록·서명</a:t>
            </a:r>
            <a:endParaRPr lang="en-US" sz="950" dirty="0"/>
          </a:p>
          <a:p>
            <a:pPr marL="342900" indent="-342900">
              <a:lnSpc>
                <a:spcPts val="1300"/>
              </a:lnSpc>
              <a:spcAft>
                <a:spcPts val="900"/>
              </a:spcAft>
              <a:buSzPct val="100000"/>
              <a:buChar char="•"/>
            </a:pPr>
            <a:r>
              <a:rPr lang="en-US" sz="950" dirty="0">
                <a:solidFill>
                  <a:srgbClr val="BFE3E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역할 기반 접근제어(RBAC)</a:t>
            </a:r>
            <a:endParaRPr lang="en-US" sz="950" dirty="0"/>
          </a:p>
          <a:p>
            <a:pPr marL="342900" indent="-342900">
              <a:lnSpc>
                <a:spcPts val="1300"/>
              </a:lnSpc>
              <a:spcAft>
                <a:spcPts val="900"/>
              </a:spcAft>
              <a:buSzPct val="100000"/>
              <a:buChar char="•"/>
            </a:pPr>
            <a:r>
              <a:rPr lang="en-US" sz="950" dirty="0">
                <a:solidFill>
                  <a:srgbClr val="BFE3E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지역별 데이터 레지던시</a:t>
            </a:r>
            <a:endParaRPr lang="en-US" sz="950" dirty="0"/>
          </a:p>
          <a:p>
            <a:pPr marL="342900" indent="-342900">
              <a:lnSpc>
                <a:spcPts val="1300"/>
              </a:lnSpc>
              <a:spcAft>
                <a:spcPts val="900"/>
              </a:spcAft>
              <a:buSzPct val="100000"/>
              <a:buChar char="•"/>
            </a:pPr>
            <a:r>
              <a:rPr lang="en-US" sz="950" dirty="0">
                <a:solidFill>
                  <a:srgbClr val="BFE3E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모델 버전 고정 및 회귀 테스트</a:t>
            </a:r>
            <a:endParaRPr lang="en-US" sz="950" dirty="0"/>
          </a:p>
        </p:txBody>
      </p:sp>
      <p:sp>
        <p:nvSpPr>
          <p:cNvPr id="36" name="Text 34"/>
          <p:cNvSpPr/>
          <p:nvPr/>
        </p:nvSpPr>
        <p:spPr>
          <a:xfrm>
            <a:off x="566928" y="5852160"/>
            <a:ext cx="1107338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02C39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핵심 설계 원칙 — 지식그래프(L3)가 자산이다. LLM은 교체 가능하지만, 규제-제품-통제 매핑 데이터는 축적될수록 대체 불가능해진다.</a:t>
            </a:r>
            <a:endParaRPr lang="en-US" sz="1150" dirty="0"/>
          </a:p>
        </p:txBody>
      </p:sp>
      <p:sp>
        <p:nvSpPr>
          <p:cNvPr id="37" name="Text 35"/>
          <p:cNvSpPr/>
          <p:nvPr/>
        </p:nvSpPr>
        <p:spPr>
          <a:xfrm>
            <a:off x="11430000" y="6382512"/>
            <a:ext cx="365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E969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9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29184"/>
            <a:ext cx="10515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02809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TRUST BY DESIGN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21792"/>
            <a:ext cx="106070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629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규제 영역에서 AI의 승부처는 생성 품질이 아니라 검증 가능성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66928" y="1481328"/>
            <a:ext cx="5468112" cy="1828800"/>
          </a:xfrm>
          <a:prstGeom prst="roundRect">
            <a:avLst>
              <a:gd name="adj" fmla="val 4000"/>
            </a:avLst>
          </a:prstGeom>
          <a:solidFill>
            <a:srgbClr val="FBF1EE"/>
          </a:solidFill>
          <a:ln w="12700">
            <a:solidFill>
              <a:srgbClr val="FBF1EE"/>
            </a:solidFill>
            <a:prstDash val="solid"/>
          </a:ln>
          <a:effectLst>
            <a:outerShdw blurRad="127000" dist="25400" dir="5400000" algn="bl" rotWithShape="0">
              <a:srgbClr val="0C2E30">
                <a:alpha val="12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5" name="Text 3"/>
          <p:cNvSpPr/>
          <p:nvPr/>
        </p:nvSpPr>
        <p:spPr>
          <a:xfrm>
            <a:off x="804672" y="1591056"/>
            <a:ext cx="49377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C2553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교훈: FDA 자체 AI 'Elsa'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804672" y="1975104"/>
            <a:ext cx="5029200" cy="12252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ts val="1500"/>
              </a:lnSpc>
              <a:spcAft>
                <a:spcPts val="700"/>
              </a:spcAft>
              <a:buSzPct val="100000"/>
              <a:buChar char="•"/>
            </a:pPr>
            <a:r>
              <a:rPr lang="en-US" sz="1050" dirty="0">
                <a:solidFill>
                  <a:srgbClr val="1629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2025년 7월 보도 — 존재하지 않는 논문을 생성하고 실제 연구를 왜곡, 그것도 확신에 찬 어조로 제시</a:t>
            </a:r>
            <a:endParaRPr lang="en-US" sz="1050" dirty="0"/>
          </a:p>
          <a:p>
            <a:pPr marL="342900" indent="-342900">
              <a:lnSpc>
                <a:spcPts val="1500"/>
              </a:lnSpc>
              <a:spcAft>
                <a:spcPts val="700"/>
              </a:spcAft>
              <a:buSzPct val="100000"/>
              <a:buChar char="•"/>
            </a:pPr>
            <a:r>
              <a:rPr lang="en-US" sz="1050" dirty="0">
                <a:solidFill>
                  <a:srgbClr val="1629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직원 지적: "검증할 시간이 없는 결과물은 신뢰할 수 없다"</a:t>
            </a:r>
            <a:endParaRPr lang="en-US" sz="1050" dirty="0"/>
          </a:p>
          <a:p>
            <a:pPr marL="342900" indent="-342900">
              <a:lnSpc>
                <a:spcPts val="1500"/>
              </a:lnSpc>
              <a:spcAft>
                <a:spcPts val="700"/>
              </a:spcAft>
              <a:buSzPct val="100000"/>
              <a:buChar char="•"/>
            </a:pPr>
            <a:r>
              <a:rPr lang="en-US" sz="1050" dirty="0">
                <a:solidFill>
                  <a:srgbClr val="1629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그럼에도 2026년 5월 FDA 심사관 90% 이상이 AI 활용 — 규제기관은 문제를 '사람 검토 절차'로 흡수하며 전진 중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6172200" y="1481328"/>
            <a:ext cx="5468112" cy="1828800"/>
          </a:xfrm>
          <a:prstGeom prst="roundRect">
            <a:avLst>
              <a:gd name="adj" fmla="val 4000"/>
            </a:avLst>
          </a:prstGeom>
          <a:solidFill>
            <a:srgbClr val="EDF5F5"/>
          </a:solidFill>
          <a:ln w="12700">
            <a:solidFill>
              <a:srgbClr val="EDF5F5"/>
            </a:solidFill>
            <a:prstDash val="solid"/>
          </a:ln>
          <a:effectLst>
            <a:outerShdw blurRad="127000" dist="25400" dir="5400000" algn="bl" rotWithShape="0">
              <a:srgbClr val="0C2E30">
                <a:alpha val="12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8" name="Text 6"/>
          <p:cNvSpPr/>
          <p:nvPr/>
        </p:nvSpPr>
        <p:spPr>
          <a:xfrm>
            <a:off x="6409944" y="1591056"/>
            <a:ext cx="49377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2809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설계 원칙 5가지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6409944" y="1956816"/>
            <a:ext cx="50292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ts val="1400"/>
              </a:lnSpc>
              <a:spcAft>
                <a:spcPts val="400"/>
              </a:spcAft>
              <a:buSzPct val="100000"/>
              <a:buChar char="•"/>
            </a:pPr>
            <a:r>
              <a:rPr lang="en-US" sz="1000" dirty="0">
                <a:solidFill>
                  <a:srgbClr val="1629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근거 없는 답변 금지 — 인용 불가 시 '확인 필요' 반환</a:t>
            </a:r>
            <a:endParaRPr lang="en-US" sz="1000" dirty="0"/>
          </a:p>
          <a:p>
            <a:pPr marL="342900" indent="-342900">
              <a:lnSpc>
                <a:spcPts val="1400"/>
              </a:lnSpc>
              <a:spcAft>
                <a:spcPts val="400"/>
              </a:spcAft>
              <a:buSzPct val="100000"/>
              <a:buChar char="•"/>
            </a:pPr>
            <a:r>
              <a:rPr lang="en-US" sz="1000" dirty="0">
                <a:solidFill>
                  <a:srgbClr val="1629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조문 단위 인용 + 문서 버전 + 발효일 동시 제시</a:t>
            </a:r>
            <a:endParaRPr lang="en-US" sz="1000" dirty="0"/>
          </a:p>
          <a:p>
            <a:pPr marL="342900" indent="-342900">
              <a:lnSpc>
                <a:spcPts val="1400"/>
              </a:lnSpc>
              <a:spcAft>
                <a:spcPts val="400"/>
              </a:spcAft>
              <a:buSzPct val="100000"/>
              <a:buChar char="•"/>
            </a:pPr>
            <a:r>
              <a:rPr lang="en-US" sz="1000" dirty="0">
                <a:solidFill>
                  <a:srgbClr val="1629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생성 결과에 대한 별도 근거 검증 에이전트 통과 필수</a:t>
            </a:r>
            <a:endParaRPr lang="en-US" sz="1000" dirty="0"/>
          </a:p>
          <a:p>
            <a:pPr marL="342900" indent="-342900">
              <a:lnSpc>
                <a:spcPts val="1400"/>
              </a:lnSpc>
              <a:spcAft>
                <a:spcPts val="400"/>
              </a:spcAft>
              <a:buSzPct val="100000"/>
              <a:buChar char="•"/>
            </a:pPr>
            <a:r>
              <a:rPr lang="en-US" sz="1000" dirty="0">
                <a:solidFill>
                  <a:srgbClr val="1629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모든 답변에 신뢰도 스코어 표기, 임계값 미만은 사람 검토 라우팅</a:t>
            </a:r>
            <a:endParaRPr lang="en-US" sz="1000" dirty="0"/>
          </a:p>
          <a:p>
            <a:pPr marL="342900" indent="-342900">
              <a:lnSpc>
                <a:spcPts val="1400"/>
              </a:lnSpc>
              <a:spcAft>
                <a:spcPts val="400"/>
              </a:spcAft>
              <a:buSzPct val="100000"/>
              <a:buChar char="•"/>
            </a:pPr>
            <a:r>
              <a:rPr lang="en-US" sz="1000" dirty="0">
                <a:solidFill>
                  <a:srgbClr val="1629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질의·답변·근거 전체 감사추적 보존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566928" y="3493008"/>
            <a:ext cx="1107338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629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GxP 밸리데이션 — 외부 판매 시 반드시 통과해야 하는 관문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566928" y="3950208"/>
            <a:ext cx="2615184" cy="1883664"/>
          </a:xfrm>
          <a:prstGeom prst="roundRect">
            <a:avLst>
              <a:gd name="adj" fmla="val 3883"/>
            </a:avLst>
          </a:prstGeom>
          <a:solidFill>
            <a:srgbClr val="FFFFFF"/>
          </a:solidFill>
          <a:ln w="12700">
            <a:solidFill>
              <a:srgbClr val="DCE8E8"/>
            </a:solidFill>
            <a:prstDash val="solid"/>
          </a:ln>
          <a:effectLst>
            <a:outerShdw blurRad="127000" dist="25400" dir="5400000" algn="bl" rotWithShape="0">
              <a:srgbClr val="0C2E30">
                <a:alpha val="12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12" name="Shape 10"/>
          <p:cNvSpPr/>
          <p:nvPr/>
        </p:nvSpPr>
        <p:spPr>
          <a:xfrm>
            <a:off x="768096" y="4114800"/>
            <a:ext cx="329184" cy="329184"/>
          </a:xfrm>
          <a:prstGeom prst="ellipse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3" name="Text 11"/>
          <p:cNvSpPr/>
          <p:nvPr/>
        </p:nvSpPr>
        <p:spPr>
          <a:xfrm>
            <a:off x="768096" y="4114800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✓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768096" y="4535424"/>
            <a:ext cx="223113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600"/>
              </a:lnSpc>
              <a:buNone/>
            </a:pPr>
            <a:r>
              <a:rPr lang="en-US" sz="1200" b="1" dirty="0">
                <a:solidFill>
                  <a:srgbClr val="1629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CSA 기반 밸리데이션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768096" y="5029200"/>
            <a:ext cx="2249424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300"/>
              </a:lnSpc>
              <a:buNone/>
            </a:pPr>
            <a:r>
              <a:rPr lang="en-US" sz="950" dirty="0">
                <a:solidFill>
                  <a:srgbClr val="5E7B7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FDA가 2025년 9월 Computer Software Assurance 가이던스를 최종 확정. 리스크 기반 접근으로 문서 부담은 줄었지만 공급자 산출물 요건은 유지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3364992" y="3950208"/>
            <a:ext cx="2615184" cy="1883664"/>
          </a:xfrm>
          <a:prstGeom prst="roundRect">
            <a:avLst>
              <a:gd name="adj" fmla="val 3883"/>
            </a:avLst>
          </a:prstGeom>
          <a:solidFill>
            <a:srgbClr val="FFFFFF"/>
          </a:solidFill>
          <a:ln w="12700">
            <a:solidFill>
              <a:srgbClr val="DCE8E8"/>
            </a:solidFill>
            <a:prstDash val="solid"/>
          </a:ln>
          <a:effectLst>
            <a:outerShdw blurRad="127000" dist="25400" dir="5400000" algn="bl" rotWithShape="0">
              <a:srgbClr val="0C2E30">
                <a:alpha val="12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17" name="Shape 15"/>
          <p:cNvSpPr/>
          <p:nvPr/>
        </p:nvSpPr>
        <p:spPr>
          <a:xfrm>
            <a:off x="3566160" y="4114800"/>
            <a:ext cx="329184" cy="329184"/>
          </a:xfrm>
          <a:prstGeom prst="ellipse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8" name="Text 16"/>
          <p:cNvSpPr/>
          <p:nvPr/>
        </p:nvSpPr>
        <p:spPr>
          <a:xfrm>
            <a:off x="3566160" y="4114800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✓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3566160" y="4535424"/>
            <a:ext cx="223113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600"/>
              </a:lnSpc>
              <a:buNone/>
            </a:pPr>
            <a:r>
              <a:rPr lang="en-US" sz="1200" b="1" dirty="0">
                <a:solidFill>
                  <a:srgbClr val="1629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21 CFR Part 11 대응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3566160" y="5029200"/>
            <a:ext cx="2249424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300"/>
              </a:lnSpc>
              <a:buNone/>
            </a:pPr>
            <a:r>
              <a:rPr lang="en-US" sz="950" dirty="0">
                <a:solidFill>
                  <a:srgbClr val="5E7B7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감사추적의 위변조 방지, 전자서명 통제, 사용자 활동 로깅. SOC 2·ISO 27001만으로는 통과 불가</a:t>
            </a:r>
            <a:endParaRPr lang="en-US" sz="950" dirty="0"/>
          </a:p>
        </p:txBody>
      </p:sp>
      <p:sp>
        <p:nvSpPr>
          <p:cNvPr id="21" name="Shape 19"/>
          <p:cNvSpPr/>
          <p:nvPr/>
        </p:nvSpPr>
        <p:spPr>
          <a:xfrm>
            <a:off x="6163056" y="3950208"/>
            <a:ext cx="2615184" cy="1883664"/>
          </a:xfrm>
          <a:prstGeom prst="roundRect">
            <a:avLst>
              <a:gd name="adj" fmla="val 3883"/>
            </a:avLst>
          </a:prstGeom>
          <a:solidFill>
            <a:srgbClr val="FFFFFF"/>
          </a:solidFill>
          <a:ln w="12700">
            <a:solidFill>
              <a:srgbClr val="DCE8E8"/>
            </a:solidFill>
            <a:prstDash val="solid"/>
          </a:ln>
          <a:effectLst>
            <a:outerShdw blurRad="127000" dist="25400" dir="5400000" algn="bl" rotWithShape="0">
              <a:srgbClr val="0C2E30">
                <a:alpha val="12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22" name="Shape 20"/>
          <p:cNvSpPr/>
          <p:nvPr/>
        </p:nvSpPr>
        <p:spPr>
          <a:xfrm>
            <a:off x="6364224" y="4114800"/>
            <a:ext cx="329184" cy="329184"/>
          </a:xfrm>
          <a:prstGeom prst="ellipse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3" name="Text 21"/>
          <p:cNvSpPr/>
          <p:nvPr/>
        </p:nvSpPr>
        <p:spPr>
          <a:xfrm>
            <a:off x="6364224" y="4114800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✓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6364224" y="4535424"/>
            <a:ext cx="223113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600"/>
              </a:lnSpc>
              <a:buNone/>
            </a:pPr>
            <a:r>
              <a:rPr lang="en-US" sz="1200" b="1" dirty="0">
                <a:solidFill>
                  <a:srgbClr val="1629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품질계약 &amp; 감사권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6364224" y="5029200"/>
            <a:ext cx="2249424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300"/>
              </a:lnSpc>
              <a:buNone/>
            </a:pPr>
            <a:r>
              <a:rPr lang="en-US" sz="950" dirty="0">
                <a:solidFill>
                  <a:srgbClr val="5E7B7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데이터 보존 정책, 아카이브 무결성, 고객사 실사(audit) 수용 체계, 변경관리 문서</a:t>
            </a:r>
            <a:endParaRPr lang="en-US" sz="950" dirty="0"/>
          </a:p>
        </p:txBody>
      </p:sp>
      <p:sp>
        <p:nvSpPr>
          <p:cNvPr id="26" name="Shape 24"/>
          <p:cNvSpPr/>
          <p:nvPr/>
        </p:nvSpPr>
        <p:spPr>
          <a:xfrm>
            <a:off x="8961120" y="3950208"/>
            <a:ext cx="2615184" cy="1883664"/>
          </a:xfrm>
          <a:prstGeom prst="roundRect">
            <a:avLst>
              <a:gd name="adj" fmla="val 3883"/>
            </a:avLst>
          </a:prstGeom>
          <a:solidFill>
            <a:srgbClr val="FFFFFF"/>
          </a:solidFill>
          <a:ln w="12700">
            <a:solidFill>
              <a:srgbClr val="DCE8E8"/>
            </a:solidFill>
            <a:prstDash val="solid"/>
          </a:ln>
          <a:effectLst>
            <a:outerShdw blurRad="127000" dist="25400" dir="5400000" algn="bl" rotWithShape="0">
              <a:srgbClr val="0C2E30">
                <a:alpha val="12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27" name="Shape 25"/>
          <p:cNvSpPr/>
          <p:nvPr/>
        </p:nvSpPr>
        <p:spPr>
          <a:xfrm>
            <a:off x="9162288" y="4114800"/>
            <a:ext cx="329184" cy="329184"/>
          </a:xfrm>
          <a:prstGeom prst="ellipse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8" name="Text 26"/>
          <p:cNvSpPr/>
          <p:nvPr/>
        </p:nvSpPr>
        <p:spPr>
          <a:xfrm>
            <a:off x="9162288" y="4114800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✓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9162288" y="4535424"/>
            <a:ext cx="223113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600"/>
              </a:lnSpc>
              <a:buNone/>
            </a:pPr>
            <a:r>
              <a:rPr lang="en-US" sz="1200" b="1" dirty="0">
                <a:solidFill>
                  <a:srgbClr val="1629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데이터 레지던시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9162288" y="5029200"/>
            <a:ext cx="2249424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300"/>
              </a:lnSpc>
              <a:buNone/>
            </a:pPr>
            <a:r>
              <a:rPr lang="en-US" sz="950" dirty="0">
                <a:solidFill>
                  <a:srgbClr val="5E7B7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GDPR, 국내 개인정보보호법, 중국 데이터 규제 — 지역별 저장 위치를 계약 수준에서 답변 가능해야 함</a:t>
            </a:r>
            <a:endParaRPr lang="en-US" sz="950" dirty="0"/>
          </a:p>
        </p:txBody>
      </p:sp>
      <p:sp>
        <p:nvSpPr>
          <p:cNvPr id="31" name="Text 29"/>
          <p:cNvSpPr/>
          <p:nvPr/>
        </p:nvSpPr>
        <p:spPr>
          <a:xfrm>
            <a:off x="566928" y="6382512"/>
            <a:ext cx="11064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E7B7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출처: CNN(2025.7.23) 및 FDA 발표(Elsa 4.0·HALO, 2026.5.6), Sidley GoodLifeSci(2026.5.20), FDA CSA 최종 가이던스(Federal Register, 2025.9.24), GxP 공급자 적격성 평가 실무 기준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11430000" y="6382512"/>
            <a:ext cx="365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E7B7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10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29184"/>
            <a:ext cx="10515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02809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ROADMAP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21792"/>
            <a:ext cx="106070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629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3단계 — 좁게 검증하고, 넓게 확장하고, 밖으로 판다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66928" y="1517904"/>
            <a:ext cx="3538728" cy="3602736"/>
          </a:xfrm>
          <a:prstGeom prst="roundRect">
            <a:avLst>
              <a:gd name="adj" fmla="val 2067"/>
            </a:avLst>
          </a:prstGeom>
          <a:solidFill>
            <a:srgbClr val="EDF5F5"/>
          </a:solidFill>
          <a:ln w="12700">
            <a:solidFill>
              <a:srgbClr val="EDF5F5"/>
            </a:solidFill>
            <a:prstDash val="solid"/>
          </a:ln>
          <a:effectLst>
            <a:outerShdw blurRad="127000" dist="25400" dir="5400000" algn="bl" rotWithShape="0">
              <a:srgbClr val="0C2E30">
                <a:alpha val="12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5" name="Shape 3"/>
          <p:cNvSpPr/>
          <p:nvPr/>
        </p:nvSpPr>
        <p:spPr>
          <a:xfrm>
            <a:off x="566928" y="1517904"/>
            <a:ext cx="3538728" cy="822960"/>
          </a:xfrm>
          <a:prstGeom prst="roundRect">
            <a:avLst>
              <a:gd name="adj" fmla="val 8889"/>
            </a:avLst>
          </a:prstGeom>
          <a:solidFill>
            <a:srgbClr val="028090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" name="Text 4"/>
          <p:cNvSpPr/>
          <p:nvPr/>
        </p:nvSpPr>
        <p:spPr>
          <a:xfrm>
            <a:off x="786384" y="1609344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100" dirty="0">
                <a:solidFill>
                  <a:srgbClr val="E8F6F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PHASE 1  ·  0–4개월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786384" y="1865376"/>
            <a:ext cx="31089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PoC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786384" y="2432304"/>
            <a:ext cx="312724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2809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범위를 좁혀 기술·가치 가설 검증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786384" y="2852928"/>
            <a:ext cx="3127248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ts val="1500"/>
              </a:lnSpc>
              <a:spcAft>
                <a:spcPts val="900"/>
              </a:spcAft>
              <a:buSzPct val="100000"/>
              <a:buChar char="•"/>
            </a:pPr>
            <a:r>
              <a:rPr lang="en-US" sz="1050" dirty="0">
                <a:solidFill>
                  <a:srgbClr val="1629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대상: EU MDR + MFDS 의료기기 2개 규제영역</a:t>
            </a:r>
            <a:endParaRPr lang="en-US" sz="1050" dirty="0"/>
          </a:p>
          <a:p>
            <a:pPr marL="342900" indent="-342900">
              <a:lnSpc>
                <a:spcPts val="1500"/>
              </a:lnSpc>
              <a:spcAft>
                <a:spcPts val="900"/>
              </a:spcAft>
              <a:buSzPct val="100000"/>
              <a:buChar char="•"/>
            </a:pPr>
            <a:r>
              <a:rPr lang="en-US" sz="1050" dirty="0">
                <a:solidFill>
                  <a:srgbClr val="1629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Tier A/B 소스만 수집 (API·RSS)</a:t>
            </a:r>
            <a:endParaRPr lang="en-US" sz="1050" dirty="0"/>
          </a:p>
          <a:p>
            <a:pPr marL="342900" indent="-342900">
              <a:lnSpc>
                <a:spcPts val="1500"/>
              </a:lnSpc>
              <a:spcAft>
                <a:spcPts val="900"/>
              </a:spcAft>
              <a:buSzPct val="100000"/>
              <a:buChar char="•"/>
            </a:pPr>
            <a:r>
              <a:rPr lang="en-US" sz="1050" dirty="0">
                <a:solidFill>
                  <a:srgbClr val="1629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모니터링 + Q&amp;A 2개 기능만 구현</a:t>
            </a:r>
            <a:endParaRPr lang="en-US" sz="1050" dirty="0"/>
          </a:p>
          <a:p>
            <a:pPr marL="342900" indent="-342900">
              <a:lnSpc>
                <a:spcPts val="1500"/>
              </a:lnSpc>
              <a:spcAft>
                <a:spcPts val="900"/>
              </a:spcAft>
              <a:buSzPct val="100000"/>
              <a:buChar char="•"/>
            </a:pPr>
            <a:r>
              <a:rPr lang="en-US" sz="1050" dirty="0">
                <a:solidFill>
                  <a:srgbClr val="1629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파일럿 사용자 1개 사업부 20~30명</a:t>
            </a:r>
            <a:endParaRPr lang="en-US" sz="1050" dirty="0"/>
          </a:p>
          <a:p>
            <a:pPr marL="342900" indent="-342900">
              <a:lnSpc>
                <a:spcPts val="1500"/>
              </a:lnSpc>
              <a:spcAft>
                <a:spcPts val="900"/>
              </a:spcAft>
              <a:buSzPct val="100000"/>
              <a:buChar char="•"/>
            </a:pPr>
            <a:r>
              <a:rPr lang="en-US" sz="1050" dirty="0">
                <a:solidFill>
                  <a:srgbClr val="1629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결과: 확장 여부 Go/No-Go 판단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4306824" y="1517904"/>
            <a:ext cx="3538728" cy="3602736"/>
          </a:xfrm>
          <a:prstGeom prst="roundRect">
            <a:avLst>
              <a:gd name="adj" fmla="val 2067"/>
            </a:avLst>
          </a:prstGeom>
          <a:solidFill>
            <a:srgbClr val="EDF5F5"/>
          </a:solidFill>
          <a:ln w="12700">
            <a:solidFill>
              <a:srgbClr val="EDF5F5"/>
            </a:solidFill>
            <a:prstDash val="solid"/>
          </a:ln>
          <a:effectLst>
            <a:outerShdw blurRad="127000" dist="25400" dir="5400000" algn="bl" rotWithShape="0">
              <a:srgbClr val="0C2E30">
                <a:alpha val="12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11" name="Shape 9"/>
          <p:cNvSpPr/>
          <p:nvPr/>
        </p:nvSpPr>
        <p:spPr>
          <a:xfrm>
            <a:off x="4306824" y="1517904"/>
            <a:ext cx="3538728" cy="822960"/>
          </a:xfrm>
          <a:prstGeom prst="roundRect">
            <a:avLst>
              <a:gd name="adj" fmla="val 8889"/>
            </a:avLst>
          </a:prstGeom>
          <a:solidFill>
            <a:srgbClr val="00A896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2" name="Text 10"/>
          <p:cNvSpPr/>
          <p:nvPr/>
        </p:nvSpPr>
        <p:spPr>
          <a:xfrm>
            <a:off x="4526280" y="1609344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100" dirty="0">
                <a:solidFill>
                  <a:srgbClr val="E8F6F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PHASE 2  ·  5–12개월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4526280" y="1865376"/>
            <a:ext cx="31089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내부 확장</a:t>
            </a:r>
            <a:endParaRPr lang="en-US" sz="2000" dirty="0"/>
          </a:p>
        </p:txBody>
      </p:sp>
      <p:sp>
        <p:nvSpPr>
          <p:cNvPr id="14" name="Text 12"/>
          <p:cNvSpPr/>
          <p:nvPr/>
        </p:nvSpPr>
        <p:spPr>
          <a:xfrm>
            <a:off x="4526280" y="2432304"/>
            <a:ext cx="312724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0A89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전사 적용 + 갭 분석 기능 추가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526280" y="2852928"/>
            <a:ext cx="3127248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ts val="1500"/>
              </a:lnSpc>
              <a:spcAft>
                <a:spcPts val="900"/>
              </a:spcAft>
              <a:buSzPct val="100000"/>
              <a:buChar char="•"/>
            </a:pPr>
            <a:r>
              <a:rPr lang="en-US" sz="1050" dirty="0">
                <a:solidFill>
                  <a:srgbClr val="1629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규제영역 확대: FDA·EMA·PMDA·NMPA</a:t>
            </a:r>
            <a:endParaRPr lang="en-US" sz="1050" dirty="0"/>
          </a:p>
          <a:p>
            <a:pPr marL="342900" indent="-342900">
              <a:lnSpc>
                <a:spcPts val="1500"/>
              </a:lnSpc>
              <a:spcAft>
                <a:spcPts val="900"/>
              </a:spcAft>
              <a:buSzPct val="100000"/>
              <a:buChar char="•"/>
            </a:pPr>
            <a:r>
              <a:rPr lang="en-US" sz="1050" dirty="0">
                <a:solidFill>
                  <a:srgbClr val="1629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Tier C 스크래핑 파이프라인 구축</a:t>
            </a:r>
            <a:endParaRPr lang="en-US" sz="1050" dirty="0"/>
          </a:p>
          <a:p>
            <a:pPr marL="342900" indent="-342900">
              <a:lnSpc>
                <a:spcPts val="1500"/>
              </a:lnSpc>
              <a:spcAft>
                <a:spcPts val="900"/>
              </a:spcAft>
              <a:buSzPct val="100000"/>
              <a:buChar char="•"/>
            </a:pPr>
            <a:r>
              <a:rPr lang="en-US" sz="1050" dirty="0">
                <a:solidFill>
                  <a:srgbClr val="1629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지식그래프 + 통제 매핑 구현</a:t>
            </a:r>
            <a:endParaRPr lang="en-US" sz="1050" dirty="0"/>
          </a:p>
          <a:p>
            <a:pPr marL="342900" indent="-342900">
              <a:lnSpc>
                <a:spcPts val="1500"/>
              </a:lnSpc>
              <a:spcAft>
                <a:spcPts val="900"/>
              </a:spcAft>
              <a:buSzPct val="100000"/>
              <a:buChar char="•"/>
            </a:pPr>
            <a:r>
              <a:rPr lang="en-US" sz="1050" dirty="0">
                <a:solidFill>
                  <a:srgbClr val="1629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사내 SOP·기술문서 연동</a:t>
            </a:r>
            <a:endParaRPr lang="en-US" sz="1050" dirty="0"/>
          </a:p>
          <a:p>
            <a:pPr marL="342900" indent="-342900">
              <a:lnSpc>
                <a:spcPts val="1500"/>
              </a:lnSpc>
              <a:spcAft>
                <a:spcPts val="900"/>
              </a:spcAft>
              <a:buSzPct val="100000"/>
              <a:buChar char="•"/>
            </a:pPr>
            <a:r>
              <a:rPr lang="en-US" sz="1050" dirty="0">
                <a:solidFill>
                  <a:srgbClr val="1629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결과: 전사 표준 도구화, ROI 실측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8046720" y="1517904"/>
            <a:ext cx="3538728" cy="3602736"/>
          </a:xfrm>
          <a:prstGeom prst="roundRect">
            <a:avLst>
              <a:gd name="adj" fmla="val 2067"/>
            </a:avLst>
          </a:prstGeom>
          <a:solidFill>
            <a:srgbClr val="EDF5F5"/>
          </a:solidFill>
          <a:ln w="12700">
            <a:solidFill>
              <a:srgbClr val="EDF5F5"/>
            </a:solidFill>
            <a:prstDash val="solid"/>
          </a:ln>
          <a:effectLst>
            <a:outerShdw blurRad="127000" dist="25400" dir="5400000" algn="bl" rotWithShape="0">
              <a:srgbClr val="0C2E30">
                <a:alpha val="12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17" name="Shape 15"/>
          <p:cNvSpPr/>
          <p:nvPr/>
        </p:nvSpPr>
        <p:spPr>
          <a:xfrm>
            <a:off x="8046720" y="1517904"/>
            <a:ext cx="3538728" cy="822960"/>
          </a:xfrm>
          <a:prstGeom prst="roundRect">
            <a:avLst>
              <a:gd name="adj" fmla="val 8889"/>
            </a:avLst>
          </a:prstGeom>
          <a:solidFill>
            <a:srgbClr val="C2553F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8" name="Text 16"/>
          <p:cNvSpPr/>
          <p:nvPr/>
        </p:nvSpPr>
        <p:spPr>
          <a:xfrm>
            <a:off x="8266176" y="1609344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100" dirty="0">
                <a:solidFill>
                  <a:srgbClr val="E8F6F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PHASE 3  ·  13–24개월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8266176" y="1865376"/>
            <a:ext cx="31089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외부 SaaS</a:t>
            </a:r>
            <a:endParaRPr lang="en-US" sz="2000" dirty="0"/>
          </a:p>
        </p:txBody>
      </p:sp>
      <p:sp>
        <p:nvSpPr>
          <p:cNvPr id="20" name="Text 18"/>
          <p:cNvSpPr/>
          <p:nvPr/>
        </p:nvSpPr>
        <p:spPr>
          <a:xfrm>
            <a:off x="8266176" y="2432304"/>
            <a:ext cx="312724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C2553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멀티테넌트 상용화 및 시장 진입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8266176" y="2852928"/>
            <a:ext cx="3127248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ts val="1500"/>
              </a:lnSpc>
              <a:spcAft>
                <a:spcPts val="900"/>
              </a:spcAft>
              <a:buSzPct val="100000"/>
              <a:buChar char="•"/>
            </a:pPr>
            <a:r>
              <a:rPr lang="en-US" sz="1050" dirty="0">
                <a:solidFill>
                  <a:srgbClr val="1629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멀티테넌트 아키텍처 전환</a:t>
            </a:r>
            <a:endParaRPr lang="en-US" sz="1050" dirty="0"/>
          </a:p>
          <a:p>
            <a:pPr marL="342900" indent="-342900">
              <a:lnSpc>
                <a:spcPts val="1500"/>
              </a:lnSpc>
              <a:spcAft>
                <a:spcPts val="900"/>
              </a:spcAft>
              <a:buSzPct val="100000"/>
              <a:buChar char="•"/>
            </a:pPr>
            <a:r>
              <a:rPr lang="en-US" sz="1050" dirty="0">
                <a:solidFill>
                  <a:srgbClr val="1629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GxP 밸리데이션 패키지 · SOC 2 취득</a:t>
            </a:r>
            <a:endParaRPr lang="en-US" sz="1050" dirty="0"/>
          </a:p>
          <a:p>
            <a:pPr marL="342900" indent="-342900">
              <a:lnSpc>
                <a:spcPts val="1500"/>
              </a:lnSpc>
              <a:spcAft>
                <a:spcPts val="900"/>
              </a:spcAft>
              <a:buSzPct val="100000"/>
              <a:buChar char="•"/>
            </a:pPr>
            <a:r>
              <a:rPr lang="en-US" sz="1050" dirty="0">
                <a:solidFill>
                  <a:srgbClr val="1629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국내 제약·의료기기사 파일럿 고객 확보</a:t>
            </a:r>
            <a:endParaRPr lang="en-US" sz="1050" dirty="0"/>
          </a:p>
          <a:p>
            <a:pPr marL="342900" indent="-342900">
              <a:lnSpc>
                <a:spcPts val="1500"/>
              </a:lnSpc>
              <a:spcAft>
                <a:spcPts val="900"/>
              </a:spcAft>
              <a:buSzPct val="100000"/>
              <a:buChar char="•"/>
            </a:pPr>
            <a:r>
              <a:rPr lang="en-US" sz="1050" dirty="0">
                <a:solidFill>
                  <a:srgbClr val="1629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파트너(CRO·컨설팅) 채널 구축</a:t>
            </a:r>
            <a:endParaRPr lang="en-US" sz="1050" dirty="0"/>
          </a:p>
          <a:p>
            <a:pPr marL="342900" indent="-342900">
              <a:lnSpc>
                <a:spcPts val="1500"/>
              </a:lnSpc>
              <a:spcAft>
                <a:spcPts val="900"/>
              </a:spcAft>
              <a:buSzPct val="100000"/>
              <a:buChar char="•"/>
            </a:pPr>
            <a:r>
              <a:rPr lang="en-US" sz="1050" dirty="0">
                <a:solidFill>
                  <a:srgbClr val="1629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결과: 유료 고객 및 ARR 확보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566928" y="5394960"/>
            <a:ext cx="11073384" cy="585216"/>
          </a:xfrm>
          <a:prstGeom prst="roundRect">
            <a:avLst>
              <a:gd name="adj" fmla="val 12500"/>
            </a:avLst>
          </a:prstGeom>
          <a:solidFill>
            <a:srgbClr val="0C2E30"/>
          </a:solidFill>
          <a:ln w="12700">
            <a:solidFill>
              <a:srgbClr val="0C2E3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3" name="Text 21"/>
          <p:cNvSpPr/>
          <p:nvPr/>
        </p:nvSpPr>
        <p:spPr>
          <a:xfrm>
            <a:off x="804672" y="5394960"/>
            <a:ext cx="1060704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C7E3E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각 단계 종료 시점에 정량 게이트를 통과해야 다음 단계 예산이 집행된다 — 단계별 승인 구조</a:t>
            </a:r>
            <a:endParaRPr lang="en-US" sz="1150" dirty="0"/>
          </a:p>
        </p:txBody>
      </p:sp>
      <p:sp>
        <p:nvSpPr>
          <p:cNvPr id="24" name="Text 22"/>
          <p:cNvSpPr/>
          <p:nvPr/>
        </p:nvSpPr>
        <p:spPr>
          <a:xfrm>
            <a:off x="11430000" y="6382512"/>
            <a:ext cx="365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E7B7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11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29184"/>
            <a:ext cx="10515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02809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PHASE 1 — POC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21792"/>
            <a:ext cx="106070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629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4개월, 2개 규제영역, 2개 기능으로 좁힌다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66928" y="1517904"/>
            <a:ext cx="2615184" cy="1700784"/>
          </a:xfrm>
          <a:prstGeom prst="roundRect">
            <a:avLst>
              <a:gd name="adj" fmla="val 4301"/>
            </a:avLst>
          </a:prstGeom>
          <a:solidFill>
            <a:srgbClr val="EDF5F5"/>
          </a:solidFill>
          <a:ln w="12700">
            <a:solidFill>
              <a:srgbClr val="EDF5F5"/>
            </a:solidFill>
            <a:prstDash val="solid"/>
          </a:ln>
          <a:effectLst>
            <a:outerShdw blurRad="127000" dist="25400" dir="5400000" algn="bl" rotWithShape="0">
              <a:srgbClr val="0C2E30">
                <a:alpha val="12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5" name="Text 3"/>
          <p:cNvSpPr/>
          <p:nvPr/>
        </p:nvSpPr>
        <p:spPr>
          <a:xfrm>
            <a:off x="768096" y="1627632"/>
            <a:ext cx="9144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2809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M1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768096" y="1956816"/>
            <a:ext cx="223113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629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기반 구축</a:t>
            </a:r>
            <a:endParaRPr lang="en-US" sz="1250" dirty="0"/>
          </a:p>
        </p:txBody>
      </p:sp>
      <p:sp>
        <p:nvSpPr>
          <p:cNvPr id="7" name="Text 5"/>
          <p:cNvSpPr/>
          <p:nvPr/>
        </p:nvSpPr>
        <p:spPr>
          <a:xfrm>
            <a:off x="768096" y="2286000"/>
            <a:ext cx="2249424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300"/>
              </a:lnSpc>
              <a:buNone/>
            </a:pPr>
            <a:r>
              <a:rPr lang="en-US" sz="950" dirty="0">
                <a:solidFill>
                  <a:srgbClr val="5E7B7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데이터 소스 우선순위 확정 · openFDA / 국가법령정보 API 커넥터 · 원문 아카이브 · 파일럿 사용자 인터뷰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 rot="5400000">
            <a:off x="3236976" y="2286000"/>
            <a:ext cx="109728" cy="182880"/>
          </a:xfrm>
          <a:prstGeom prst="triangle">
            <a:avLst/>
          </a:prstGeom>
          <a:solidFill>
            <a:srgbClr val="9FC0C1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9" name="Shape 7"/>
          <p:cNvSpPr/>
          <p:nvPr/>
        </p:nvSpPr>
        <p:spPr>
          <a:xfrm>
            <a:off x="3364992" y="1517904"/>
            <a:ext cx="2615184" cy="1700784"/>
          </a:xfrm>
          <a:prstGeom prst="roundRect">
            <a:avLst>
              <a:gd name="adj" fmla="val 4301"/>
            </a:avLst>
          </a:prstGeom>
          <a:solidFill>
            <a:srgbClr val="EDF5F5"/>
          </a:solidFill>
          <a:ln w="12700">
            <a:solidFill>
              <a:srgbClr val="EDF5F5"/>
            </a:solidFill>
            <a:prstDash val="solid"/>
          </a:ln>
          <a:effectLst>
            <a:outerShdw blurRad="127000" dist="25400" dir="5400000" algn="bl" rotWithShape="0">
              <a:srgbClr val="0C2E30">
                <a:alpha val="12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10" name="Text 8"/>
          <p:cNvSpPr/>
          <p:nvPr/>
        </p:nvSpPr>
        <p:spPr>
          <a:xfrm>
            <a:off x="3566160" y="1627632"/>
            <a:ext cx="9144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2809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M2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3566160" y="1956816"/>
            <a:ext cx="223113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629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정규화 &amp; 인덱싱</a:t>
            </a:r>
            <a:endParaRPr lang="en-US" sz="1250" dirty="0"/>
          </a:p>
        </p:txBody>
      </p:sp>
      <p:sp>
        <p:nvSpPr>
          <p:cNvPr id="12" name="Text 10"/>
          <p:cNvSpPr/>
          <p:nvPr/>
        </p:nvSpPr>
        <p:spPr>
          <a:xfrm>
            <a:off x="3566160" y="2286000"/>
            <a:ext cx="2249424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300"/>
              </a:lnSpc>
              <a:buNone/>
            </a:pPr>
            <a:r>
              <a:rPr lang="en-US" sz="950" dirty="0">
                <a:solidFill>
                  <a:srgbClr val="5E7B7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조문 단위 파싱 · 다국어 처리 · 변경 diff 로직 · 하이브리드 검색 인덱스 · 평가용 골든 질의셋 200건 구축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 rot="5400000">
            <a:off x="6035040" y="2286000"/>
            <a:ext cx="109728" cy="182880"/>
          </a:xfrm>
          <a:prstGeom prst="triangle">
            <a:avLst/>
          </a:prstGeom>
          <a:solidFill>
            <a:srgbClr val="9FC0C1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4" name="Shape 12"/>
          <p:cNvSpPr/>
          <p:nvPr/>
        </p:nvSpPr>
        <p:spPr>
          <a:xfrm>
            <a:off x="6163056" y="1517904"/>
            <a:ext cx="2615184" cy="1700784"/>
          </a:xfrm>
          <a:prstGeom prst="roundRect">
            <a:avLst>
              <a:gd name="adj" fmla="val 4301"/>
            </a:avLst>
          </a:prstGeom>
          <a:solidFill>
            <a:srgbClr val="EDF5F5"/>
          </a:solidFill>
          <a:ln w="12700">
            <a:solidFill>
              <a:srgbClr val="EDF5F5"/>
            </a:solidFill>
            <a:prstDash val="solid"/>
          </a:ln>
          <a:effectLst>
            <a:outerShdw blurRad="127000" dist="25400" dir="5400000" algn="bl" rotWithShape="0">
              <a:srgbClr val="0C2E30">
                <a:alpha val="12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15" name="Text 13"/>
          <p:cNvSpPr/>
          <p:nvPr/>
        </p:nvSpPr>
        <p:spPr>
          <a:xfrm>
            <a:off x="6364224" y="1627632"/>
            <a:ext cx="9144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2809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M3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6364224" y="1956816"/>
            <a:ext cx="223113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629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기능 구현</a:t>
            </a:r>
            <a:endParaRPr lang="en-US" sz="1250" dirty="0"/>
          </a:p>
        </p:txBody>
      </p:sp>
      <p:sp>
        <p:nvSpPr>
          <p:cNvPr id="17" name="Text 15"/>
          <p:cNvSpPr/>
          <p:nvPr/>
        </p:nvSpPr>
        <p:spPr>
          <a:xfrm>
            <a:off x="6364224" y="2286000"/>
            <a:ext cx="2249424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300"/>
              </a:lnSpc>
              <a:buNone/>
            </a:pPr>
            <a:r>
              <a:rPr lang="en-US" sz="950" dirty="0">
                <a:solidFill>
                  <a:srgbClr val="5E7B7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모니터링 대시보드 · 알림 라우팅 · 인용 강제 Q&amp;A · 근거 검증 에이전트 · 신뢰도 스코어링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 rot="5400000">
            <a:off x="8833104" y="2286000"/>
            <a:ext cx="109728" cy="182880"/>
          </a:xfrm>
          <a:prstGeom prst="triangle">
            <a:avLst/>
          </a:prstGeom>
          <a:solidFill>
            <a:srgbClr val="9FC0C1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9" name="Shape 17"/>
          <p:cNvSpPr/>
          <p:nvPr/>
        </p:nvSpPr>
        <p:spPr>
          <a:xfrm>
            <a:off x="8961120" y="1517904"/>
            <a:ext cx="2615184" cy="1700784"/>
          </a:xfrm>
          <a:prstGeom prst="roundRect">
            <a:avLst>
              <a:gd name="adj" fmla="val 4301"/>
            </a:avLst>
          </a:prstGeom>
          <a:solidFill>
            <a:srgbClr val="EDF5F5"/>
          </a:solidFill>
          <a:ln w="12700">
            <a:solidFill>
              <a:srgbClr val="EDF5F5"/>
            </a:solidFill>
            <a:prstDash val="solid"/>
          </a:ln>
          <a:effectLst>
            <a:outerShdw blurRad="127000" dist="25400" dir="5400000" algn="bl" rotWithShape="0">
              <a:srgbClr val="0C2E30">
                <a:alpha val="12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20" name="Text 18"/>
          <p:cNvSpPr/>
          <p:nvPr/>
        </p:nvSpPr>
        <p:spPr>
          <a:xfrm>
            <a:off x="9162288" y="1627632"/>
            <a:ext cx="9144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2809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M4</a:t>
            </a:r>
            <a:endParaRPr lang="en-US" sz="1500" dirty="0"/>
          </a:p>
        </p:txBody>
      </p:sp>
      <p:sp>
        <p:nvSpPr>
          <p:cNvPr id="21" name="Text 19"/>
          <p:cNvSpPr/>
          <p:nvPr/>
        </p:nvSpPr>
        <p:spPr>
          <a:xfrm>
            <a:off x="9162288" y="1956816"/>
            <a:ext cx="223113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629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파일럿 &amp; 평가</a:t>
            </a:r>
            <a:endParaRPr lang="en-US" sz="1250" dirty="0"/>
          </a:p>
        </p:txBody>
      </p:sp>
      <p:sp>
        <p:nvSpPr>
          <p:cNvPr id="22" name="Text 20"/>
          <p:cNvSpPr/>
          <p:nvPr/>
        </p:nvSpPr>
        <p:spPr>
          <a:xfrm>
            <a:off x="9162288" y="2286000"/>
            <a:ext cx="2249424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300"/>
              </a:lnSpc>
              <a:buNone/>
            </a:pPr>
            <a:r>
              <a:rPr lang="en-US" sz="950" dirty="0">
                <a:solidFill>
                  <a:srgbClr val="5E7B7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20~30명 실사용 · 정량 지표 측정 · RA 담당자 블라인드 정확도 평가 · Phase 2 확장 설계 및 Go/No-Go 보고</a:t>
            </a:r>
            <a:endParaRPr lang="en-US" sz="950" dirty="0"/>
          </a:p>
        </p:txBody>
      </p:sp>
      <p:sp>
        <p:nvSpPr>
          <p:cNvPr id="23" name="Text 21"/>
          <p:cNvSpPr/>
          <p:nvPr/>
        </p:nvSpPr>
        <p:spPr>
          <a:xfrm>
            <a:off x="566928" y="3401568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629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Go / No-Go 정량 게이트</a:t>
            </a:r>
            <a:endParaRPr lang="en-US" sz="1600" dirty="0"/>
          </a:p>
        </p:txBody>
      </p:sp>
      <p:sp>
        <p:nvSpPr>
          <p:cNvPr id="24" name="Shape 22"/>
          <p:cNvSpPr/>
          <p:nvPr/>
        </p:nvSpPr>
        <p:spPr>
          <a:xfrm>
            <a:off x="566928" y="3840480"/>
            <a:ext cx="3538728" cy="1060704"/>
          </a:xfrm>
          <a:prstGeom prst="roundRect">
            <a:avLst>
              <a:gd name="adj" fmla="val 6897"/>
            </a:avLst>
          </a:prstGeom>
          <a:solidFill>
            <a:srgbClr val="FFFFFF"/>
          </a:solidFill>
          <a:ln w="12700">
            <a:solidFill>
              <a:srgbClr val="DCE8E8"/>
            </a:solidFill>
            <a:prstDash val="solid"/>
          </a:ln>
          <a:effectLst>
            <a:outerShdw blurRad="127000" dist="25400" dir="5400000" algn="bl" rotWithShape="0">
              <a:srgbClr val="0C2E30">
                <a:alpha val="12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25" name="Text 23"/>
          <p:cNvSpPr/>
          <p:nvPr/>
        </p:nvSpPr>
        <p:spPr>
          <a:xfrm>
            <a:off x="768096" y="3931920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5E7B7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탐지 커버리지</a:t>
            </a:r>
            <a:endParaRPr lang="en-US" sz="1050" dirty="0"/>
          </a:p>
        </p:txBody>
      </p:sp>
      <p:sp>
        <p:nvSpPr>
          <p:cNvPr id="26" name="Text 24"/>
          <p:cNvSpPr/>
          <p:nvPr/>
        </p:nvSpPr>
        <p:spPr>
          <a:xfrm>
            <a:off x="2487168" y="3913632"/>
            <a:ext cx="14630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700" b="1" dirty="0">
                <a:solidFill>
                  <a:srgbClr val="02809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≥ 95%</a:t>
            </a:r>
            <a:endParaRPr lang="en-US" sz="1700" dirty="0"/>
          </a:p>
        </p:txBody>
      </p:sp>
      <p:sp>
        <p:nvSpPr>
          <p:cNvPr id="27" name="Text 25"/>
          <p:cNvSpPr/>
          <p:nvPr/>
        </p:nvSpPr>
        <p:spPr>
          <a:xfrm>
            <a:off x="768096" y="4261104"/>
            <a:ext cx="316382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200"/>
              </a:lnSpc>
              <a:buNone/>
            </a:pPr>
            <a:r>
              <a:rPr lang="en-US" sz="900" dirty="0">
                <a:solidFill>
                  <a:srgbClr val="5E7B7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대상 규제영역에서 발생한 실제 개정·공고 중 시스템이 포착한 비율 (사후 수동 대조)</a:t>
            </a:r>
            <a:endParaRPr lang="en-US" sz="900" dirty="0"/>
          </a:p>
        </p:txBody>
      </p:sp>
      <p:sp>
        <p:nvSpPr>
          <p:cNvPr id="28" name="Shape 26"/>
          <p:cNvSpPr/>
          <p:nvPr/>
        </p:nvSpPr>
        <p:spPr>
          <a:xfrm>
            <a:off x="4306824" y="3840480"/>
            <a:ext cx="3538728" cy="1060704"/>
          </a:xfrm>
          <a:prstGeom prst="roundRect">
            <a:avLst>
              <a:gd name="adj" fmla="val 6897"/>
            </a:avLst>
          </a:prstGeom>
          <a:solidFill>
            <a:srgbClr val="FFFFFF"/>
          </a:solidFill>
          <a:ln w="12700">
            <a:solidFill>
              <a:srgbClr val="DCE8E8"/>
            </a:solidFill>
            <a:prstDash val="solid"/>
          </a:ln>
          <a:effectLst>
            <a:outerShdw blurRad="127000" dist="25400" dir="5400000" algn="bl" rotWithShape="0">
              <a:srgbClr val="0C2E30">
                <a:alpha val="12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29" name="Text 27"/>
          <p:cNvSpPr/>
          <p:nvPr/>
        </p:nvSpPr>
        <p:spPr>
          <a:xfrm>
            <a:off x="4507992" y="3931920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5E7B7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탐지 지연</a:t>
            </a:r>
            <a:endParaRPr lang="en-US" sz="1050" dirty="0"/>
          </a:p>
        </p:txBody>
      </p:sp>
      <p:sp>
        <p:nvSpPr>
          <p:cNvPr id="30" name="Text 28"/>
          <p:cNvSpPr/>
          <p:nvPr/>
        </p:nvSpPr>
        <p:spPr>
          <a:xfrm>
            <a:off x="6227064" y="3913632"/>
            <a:ext cx="14630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700" b="1" dirty="0">
                <a:solidFill>
                  <a:srgbClr val="02809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≤ 24시간</a:t>
            </a:r>
            <a:endParaRPr lang="en-US" sz="1700" dirty="0"/>
          </a:p>
        </p:txBody>
      </p:sp>
      <p:sp>
        <p:nvSpPr>
          <p:cNvPr id="31" name="Text 29"/>
          <p:cNvSpPr/>
          <p:nvPr/>
        </p:nvSpPr>
        <p:spPr>
          <a:xfrm>
            <a:off x="4507992" y="4261104"/>
            <a:ext cx="316382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200"/>
              </a:lnSpc>
              <a:buNone/>
            </a:pPr>
            <a:r>
              <a:rPr lang="en-US" sz="900" dirty="0">
                <a:solidFill>
                  <a:srgbClr val="5E7B7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규제기관 공표 시점부터 담당자 알림까지 소요 시간</a:t>
            </a:r>
            <a:endParaRPr lang="en-US" sz="900" dirty="0"/>
          </a:p>
        </p:txBody>
      </p:sp>
      <p:sp>
        <p:nvSpPr>
          <p:cNvPr id="32" name="Shape 30"/>
          <p:cNvSpPr/>
          <p:nvPr/>
        </p:nvSpPr>
        <p:spPr>
          <a:xfrm>
            <a:off x="8046720" y="3840480"/>
            <a:ext cx="3538728" cy="1060704"/>
          </a:xfrm>
          <a:prstGeom prst="roundRect">
            <a:avLst>
              <a:gd name="adj" fmla="val 6897"/>
            </a:avLst>
          </a:prstGeom>
          <a:solidFill>
            <a:srgbClr val="FFFFFF"/>
          </a:solidFill>
          <a:ln w="12700">
            <a:solidFill>
              <a:srgbClr val="DCE8E8"/>
            </a:solidFill>
            <a:prstDash val="solid"/>
          </a:ln>
          <a:effectLst>
            <a:outerShdw blurRad="127000" dist="25400" dir="5400000" algn="bl" rotWithShape="0">
              <a:srgbClr val="0C2E30">
                <a:alpha val="12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33" name="Text 31"/>
          <p:cNvSpPr/>
          <p:nvPr/>
        </p:nvSpPr>
        <p:spPr>
          <a:xfrm>
            <a:off x="8247888" y="3931920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5E7B7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인용 정확도</a:t>
            </a:r>
            <a:endParaRPr lang="en-US" sz="1050" dirty="0"/>
          </a:p>
        </p:txBody>
      </p:sp>
      <p:sp>
        <p:nvSpPr>
          <p:cNvPr id="34" name="Text 32"/>
          <p:cNvSpPr/>
          <p:nvPr/>
        </p:nvSpPr>
        <p:spPr>
          <a:xfrm>
            <a:off x="9966960" y="3913632"/>
            <a:ext cx="14630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700" b="1" dirty="0">
                <a:solidFill>
                  <a:srgbClr val="02809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≥ 90%</a:t>
            </a:r>
            <a:endParaRPr lang="en-US" sz="1700" dirty="0"/>
          </a:p>
        </p:txBody>
      </p:sp>
      <p:sp>
        <p:nvSpPr>
          <p:cNvPr id="35" name="Text 33"/>
          <p:cNvSpPr/>
          <p:nvPr/>
        </p:nvSpPr>
        <p:spPr>
          <a:xfrm>
            <a:off x="8247888" y="4261104"/>
            <a:ext cx="316382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200"/>
              </a:lnSpc>
              <a:buNone/>
            </a:pPr>
            <a:r>
              <a:rPr lang="en-US" sz="900" dirty="0">
                <a:solidFill>
                  <a:srgbClr val="5E7B7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답변에 제시된 근거 조문이 실제로 해당 답변을 뒷받침하는 비율 (RA 담당자 블라인드 평가)</a:t>
            </a:r>
            <a:endParaRPr lang="en-US" sz="900" dirty="0"/>
          </a:p>
        </p:txBody>
      </p:sp>
      <p:sp>
        <p:nvSpPr>
          <p:cNvPr id="36" name="Shape 34"/>
          <p:cNvSpPr/>
          <p:nvPr/>
        </p:nvSpPr>
        <p:spPr>
          <a:xfrm>
            <a:off x="566928" y="5010912"/>
            <a:ext cx="3538728" cy="1060704"/>
          </a:xfrm>
          <a:prstGeom prst="roundRect">
            <a:avLst>
              <a:gd name="adj" fmla="val 6897"/>
            </a:avLst>
          </a:prstGeom>
          <a:solidFill>
            <a:srgbClr val="FFFFFF"/>
          </a:solidFill>
          <a:ln w="12700">
            <a:solidFill>
              <a:srgbClr val="DCE8E8"/>
            </a:solidFill>
            <a:prstDash val="solid"/>
          </a:ln>
          <a:effectLst>
            <a:outerShdw blurRad="127000" dist="25400" dir="5400000" algn="bl" rotWithShape="0">
              <a:srgbClr val="0C2E30">
                <a:alpha val="12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37" name="Text 35"/>
          <p:cNvSpPr/>
          <p:nvPr/>
        </p:nvSpPr>
        <p:spPr>
          <a:xfrm>
            <a:off x="768096" y="5102352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5E7B7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환각률</a:t>
            </a:r>
            <a:endParaRPr lang="en-US" sz="1050" dirty="0"/>
          </a:p>
        </p:txBody>
      </p:sp>
      <p:sp>
        <p:nvSpPr>
          <p:cNvPr id="38" name="Text 36"/>
          <p:cNvSpPr/>
          <p:nvPr/>
        </p:nvSpPr>
        <p:spPr>
          <a:xfrm>
            <a:off x="2487168" y="5084064"/>
            <a:ext cx="14630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700" b="1" dirty="0">
                <a:solidFill>
                  <a:srgbClr val="02809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≤ 2%</a:t>
            </a:r>
            <a:endParaRPr lang="en-US" sz="1700" dirty="0"/>
          </a:p>
        </p:txBody>
      </p:sp>
      <p:sp>
        <p:nvSpPr>
          <p:cNvPr id="39" name="Text 37"/>
          <p:cNvSpPr/>
          <p:nvPr/>
        </p:nvSpPr>
        <p:spPr>
          <a:xfrm>
            <a:off x="768096" y="5431536"/>
            <a:ext cx="316382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200"/>
              </a:lnSpc>
              <a:buNone/>
            </a:pPr>
            <a:r>
              <a:rPr lang="en-US" sz="900" dirty="0">
                <a:solidFill>
                  <a:srgbClr val="5E7B7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존재하지 않는 조문·문서를 인용하거나 원문과 배치되는 내용을 생성한 비율</a:t>
            </a:r>
            <a:endParaRPr lang="en-US" sz="900" dirty="0"/>
          </a:p>
        </p:txBody>
      </p:sp>
      <p:sp>
        <p:nvSpPr>
          <p:cNvPr id="40" name="Shape 38"/>
          <p:cNvSpPr/>
          <p:nvPr/>
        </p:nvSpPr>
        <p:spPr>
          <a:xfrm>
            <a:off x="4306824" y="5010912"/>
            <a:ext cx="3538728" cy="1060704"/>
          </a:xfrm>
          <a:prstGeom prst="roundRect">
            <a:avLst>
              <a:gd name="adj" fmla="val 6897"/>
            </a:avLst>
          </a:prstGeom>
          <a:solidFill>
            <a:srgbClr val="FFFFFF"/>
          </a:solidFill>
          <a:ln w="12700">
            <a:solidFill>
              <a:srgbClr val="DCE8E8"/>
            </a:solidFill>
            <a:prstDash val="solid"/>
          </a:ln>
          <a:effectLst>
            <a:outerShdw blurRad="127000" dist="25400" dir="5400000" algn="bl" rotWithShape="0">
              <a:srgbClr val="0C2E30">
                <a:alpha val="12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41" name="Text 39"/>
          <p:cNvSpPr/>
          <p:nvPr/>
        </p:nvSpPr>
        <p:spPr>
          <a:xfrm>
            <a:off x="4507992" y="5102352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5E7B7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조사 시간 절감</a:t>
            </a:r>
            <a:endParaRPr lang="en-US" sz="1050" dirty="0"/>
          </a:p>
        </p:txBody>
      </p:sp>
      <p:sp>
        <p:nvSpPr>
          <p:cNvPr id="42" name="Text 40"/>
          <p:cNvSpPr/>
          <p:nvPr/>
        </p:nvSpPr>
        <p:spPr>
          <a:xfrm>
            <a:off x="6227064" y="5084064"/>
            <a:ext cx="14630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700" b="1" dirty="0">
                <a:solidFill>
                  <a:srgbClr val="02809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≥ 30%</a:t>
            </a:r>
            <a:endParaRPr lang="en-US" sz="1700" dirty="0"/>
          </a:p>
        </p:txBody>
      </p:sp>
      <p:sp>
        <p:nvSpPr>
          <p:cNvPr id="43" name="Text 41"/>
          <p:cNvSpPr/>
          <p:nvPr/>
        </p:nvSpPr>
        <p:spPr>
          <a:xfrm>
            <a:off x="4507992" y="5431536"/>
            <a:ext cx="316382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200"/>
              </a:lnSpc>
              <a:buNone/>
            </a:pPr>
            <a:r>
              <a:rPr lang="en-US" sz="900" dirty="0">
                <a:solidFill>
                  <a:srgbClr val="5E7B7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동일 질의 유형에 대해 기존 수작업 대비 소요 시간 감소율</a:t>
            </a:r>
            <a:endParaRPr lang="en-US" sz="900" dirty="0"/>
          </a:p>
        </p:txBody>
      </p:sp>
      <p:sp>
        <p:nvSpPr>
          <p:cNvPr id="44" name="Shape 42"/>
          <p:cNvSpPr/>
          <p:nvPr/>
        </p:nvSpPr>
        <p:spPr>
          <a:xfrm>
            <a:off x="8046720" y="5010912"/>
            <a:ext cx="3538728" cy="1060704"/>
          </a:xfrm>
          <a:prstGeom prst="roundRect">
            <a:avLst>
              <a:gd name="adj" fmla="val 6897"/>
            </a:avLst>
          </a:prstGeom>
          <a:solidFill>
            <a:srgbClr val="FFFFFF"/>
          </a:solidFill>
          <a:ln w="12700">
            <a:solidFill>
              <a:srgbClr val="DCE8E8"/>
            </a:solidFill>
            <a:prstDash val="solid"/>
          </a:ln>
          <a:effectLst>
            <a:outerShdw blurRad="127000" dist="25400" dir="5400000" algn="bl" rotWithShape="0">
              <a:srgbClr val="0C2E30">
                <a:alpha val="12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45" name="Text 43"/>
          <p:cNvSpPr/>
          <p:nvPr/>
        </p:nvSpPr>
        <p:spPr>
          <a:xfrm>
            <a:off x="8247888" y="5102352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5E7B7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파일럿 정착률</a:t>
            </a:r>
            <a:endParaRPr lang="en-US" sz="1050" dirty="0"/>
          </a:p>
        </p:txBody>
      </p:sp>
      <p:sp>
        <p:nvSpPr>
          <p:cNvPr id="46" name="Text 44"/>
          <p:cNvSpPr/>
          <p:nvPr/>
        </p:nvSpPr>
        <p:spPr>
          <a:xfrm>
            <a:off x="9966960" y="5084064"/>
            <a:ext cx="14630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700" b="1" dirty="0">
                <a:solidFill>
                  <a:srgbClr val="02809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≥ 60%</a:t>
            </a:r>
            <a:endParaRPr lang="en-US" sz="1700" dirty="0"/>
          </a:p>
        </p:txBody>
      </p:sp>
      <p:sp>
        <p:nvSpPr>
          <p:cNvPr id="47" name="Text 45"/>
          <p:cNvSpPr/>
          <p:nvPr/>
        </p:nvSpPr>
        <p:spPr>
          <a:xfrm>
            <a:off x="8247888" y="5431536"/>
            <a:ext cx="316382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200"/>
              </a:lnSpc>
              <a:buNone/>
            </a:pPr>
            <a:r>
              <a:rPr lang="en-US" sz="900" dirty="0">
                <a:solidFill>
                  <a:srgbClr val="5E7B7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파일럿 사용자 중 주 1회 이상 자발적으로 사용한 인원 비율 (4주 연속)</a:t>
            </a:r>
            <a:endParaRPr lang="en-US" sz="900" dirty="0"/>
          </a:p>
        </p:txBody>
      </p:sp>
      <p:sp>
        <p:nvSpPr>
          <p:cNvPr id="48" name="Text 46"/>
          <p:cNvSpPr/>
          <p:nvPr/>
        </p:nvSpPr>
        <p:spPr>
          <a:xfrm>
            <a:off x="11430000" y="6382512"/>
            <a:ext cx="365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E7B7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12</a:t>
            </a:r>
            <a:endParaRPr lang="en-US" sz="1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29184"/>
            <a:ext cx="10515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02809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ORGANIZATION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21792"/>
            <a:ext cx="106070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629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규제 전문성과 엔지니어링을 같은 팀에 둔다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786384" y="1572768"/>
            <a:ext cx="2743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5E7B7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역할</a:t>
            </a:r>
            <a:endParaRPr lang="en-US" sz="1050" dirty="0"/>
          </a:p>
        </p:txBody>
      </p:sp>
      <p:sp>
        <p:nvSpPr>
          <p:cNvPr id="5" name="Text 3"/>
          <p:cNvSpPr/>
          <p:nvPr/>
        </p:nvSpPr>
        <p:spPr>
          <a:xfrm>
            <a:off x="3200400" y="1572768"/>
            <a:ext cx="29260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5E7B7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담당 범위</a:t>
            </a:r>
            <a:endParaRPr lang="en-US" sz="1050" dirty="0"/>
          </a:p>
        </p:txBody>
      </p:sp>
      <p:sp>
        <p:nvSpPr>
          <p:cNvPr id="6" name="Text 4"/>
          <p:cNvSpPr/>
          <p:nvPr/>
        </p:nvSpPr>
        <p:spPr>
          <a:xfrm>
            <a:off x="6309360" y="1572768"/>
            <a:ext cx="12801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5E7B7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Phase 1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7680960" y="1572768"/>
            <a:ext cx="12801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5E7B7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Phase 2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9052560" y="1572768"/>
            <a:ext cx="12801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5E7B7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Phase 3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566928" y="1956816"/>
            <a:ext cx="11073384" cy="566928"/>
          </a:xfrm>
          <a:prstGeom prst="roundRect">
            <a:avLst>
              <a:gd name="adj" fmla="val 12903"/>
            </a:avLst>
          </a:prstGeom>
          <a:solidFill>
            <a:srgbClr val="EDF5F5"/>
          </a:solidFill>
          <a:ln w="12700">
            <a:solidFill>
              <a:srgbClr val="EDF5F5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0" name="Shape 8"/>
          <p:cNvSpPr/>
          <p:nvPr/>
        </p:nvSpPr>
        <p:spPr>
          <a:xfrm>
            <a:off x="786384" y="2148840"/>
            <a:ext cx="182880" cy="182880"/>
          </a:xfrm>
          <a:prstGeom prst="ellipse">
            <a:avLst/>
          </a:prstGeom>
          <a:solidFill>
            <a:srgbClr val="028090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1" name="Text 9"/>
          <p:cNvSpPr/>
          <p:nvPr/>
        </p:nvSpPr>
        <p:spPr>
          <a:xfrm>
            <a:off x="1078992" y="1956816"/>
            <a:ext cx="22860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629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규제 도메인 (RA/QA)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3200400" y="1956816"/>
            <a:ext cx="30175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300"/>
              </a:lnSpc>
              <a:buNone/>
            </a:pPr>
            <a:r>
              <a:rPr lang="en-US" sz="950" dirty="0">
                <a:solidFill>
                  <a:srgbClr val="5E7B7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요건 구조화, 골든셋 설계, 답변 정확도 검증, 밸리데이션 문서 작성</a:t>
            </a:r>
            <a:endParaRPr lang="en-US" sz="950" dirty="0"/>
          </a:p>
        </p:txBody>
      </p:sp>
      <p:sp>
        <p:nvSpPr>
          <p:cNvPr id="13" name="Text 11"/>
          <p:cNvSpPr/>
          <p:nvPr/>
        </p:nvSpPr>
        <p:spPr>
          <a:xfrm>
            <a:off x="6309360" y="1956816"/>
            <a:ext cx="12801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02809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7680960" y="1956816"/>
            <a:ext cx="12801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629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9052560" y="1956816"/>
            <a:ext cx="12801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629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6</a:t>
            </a:r>
            <a:endParaRPr lang="en-US" sz="1500" dirty="0"/>
          </a:p>
        </p:txBody>
      </p:sp>
      <p:sp>
        <p:nvSpPr>
          <p:cNvPr id="16" name="Shape 14"/>
          <p:cNvSpPr/>
          <p:nvPr/>
        </p:nvSpPr>
        <p:spPr>
          <a:xfrm>
            <a:off x="566928" y="2615184"/>
            <a:ext cx="11073384" cy="566928"/>
          </a:xfrm>
          <a:prstGeom prst="roundRect">
            <a:avLst>
              <a:gd name="adj" fmla="val 12903"/>
            </a:avLst>
          </a:prstGeom>
          <a:solidFill>
            <a:srgbClr val="F6FAFA"/>
          </a:solidFill>
          <a:ln w="12700">
            <a:solidFill>
              <a:srgbClr val="F6FAFA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7" name="Shape 15"/>
          <p:cNvSpPr/>
          <p:nvPr/>
        </p:nvSpPr>
        <p:spPr>
          <a:xfrm>
            <a:off x="786384" y="2807208"/>
            <a:ext cx="182880" cy="182880"/>
          </a:xfrm>
          <a:prstGeom prst="ellipse">
            <a:avLst/>
          </a:prstGeom>
          <a:solidFill>
            <a:srgbClr val="00A896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8" name="Text 16"/>
          <p:cNvSpPr/>
          <p:nvPr/>
        </p:nvSpPr>
        <p:spPr>
          <a:xfrm>
            <a:off x="1078992" y="2615184"/>
            <a:ext cx="22860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629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데이터 엔지니어링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3200400" y="2615184"/>
            <a:ext cx="30175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300"/>
              </a:lnSpc>
              <a:buNone/>
            </a:pPr>
            <a:r>
              <a:rPr lang="en-US" sz="950" dirty="0">
                <a:solidFill>
                  <a:srgbClr val="5E7B7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커넥터, 스크래핑 파이프라인, 정규화, 지식그래프 적재</a:t>
            </a:r>
            <a:endParaRPr lang="en-US" sz="950" dirty="0"/>
          </a:p>
        </p:txBody>
      </p:sp>
      <p:sp>
        <p:nvSpPr>
          <p:cNvPr id="20" name="Text 18"/>
          <p:cNvSpPr/>
          <p:nvPr/>
        </p:nvSpPr>
        <p:spPr>
          <a:xfrm>
            <a:off x="6309360" y="2615184"/>
            <a:ext cx="12801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02809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</a:t>
            </a:r>
            <a:endParaRPr lang="en-US" sz="1500" dirty="0"/>
          </a:p>
        </p:txBody>
      </p:sp>
      <p:sp>
        <p:nvSpPr>
          <p:cNvPr id="21" name="Text 19"/>
          <p:cNvSpPr/>
          <p:nvPr/>
        </p:nvSpPr>
        <p:spPr>
          <a:xfrm>
            <a:off x="7680960" y="2615184"/>
            <a:ext cx="12801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629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</a:t>
            </a:r>
            <a:endParaRPr lang="en-US" sz="1500" dirty="0"/>
          </a:p>
        </p:txBody>
      </p:sp>
      <p:sp>
        <p:nvSpPr>
          <p:cNvPr id="22" name="Text 20"/>
          <p:cNvSpPr/>
          <p:nvPr/>
        </p:nvSpPr>
        <p:spPr>
          <a:xfrm>
            <a:off x="9052560" y="2615184"/>
            <a:ext cx="12801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629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7</a:t>
            </a:r>
            <a:endParaRPr lang="en-US" sz="1500" dirty="0"/>
          </a:p>
        </p:txBody>
      </p:sp>
      <p:sp>
        <p:nvSpPr>
          <p:cNvPr id="23" name="Shape 21"/>
          <p:cNvSpPr/>
          <p:nvPr/>
        </p:nvSpPr>
        <p:spPr>
          <a:xfrm>
            <a:off x="566928" y="3273552"/>
            <a:ext cx="11073384" cy="566928"/>
          </a:xfrm>
          <a:prstGeom prst="roundRect">
            <a:avLst>
              <a:gd name="adj" fmla="val 12903"/>
            </a:avLst>
          </a:prstGeom>
          <a:solidFill>
            <a:srgbClr val="EDF5F5"/>
          </a:solidFill>
          <a:ln w="12700">
            <a:solidFill>
              <a:srgbClr val="EDF5F5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4" name="Shape 22"/>
          <p:cNvSpPr/>
          <p:nvPr/>
        </p:nvSpPr>
        <p:spPr>
          <a:xfrm>
            <a:off x="786384" y="3465576"/>
            <a:ext cx="182880" cy="182880"/>
          </a:xfrm>
          <a:prstGeom prst="ellipse">
            <a:avLst/>
          </a:prstGeom>
          <a:solidFill>
            <a:srgbClr val="02C39A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5" name="Text 23"/>
          <p:cNvSpPr/>
          <p:nvPr/>
        </p:nvSpPr>
        <p:spPr>
          <a:xfrm>
            <a:off x="1078992" y="3273552"/>
            <a:ext cx="22860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629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AI / ML 엔지니어링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3200400" y="3273552"/>
            <a:ext cx="30175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300"/>
              </a:lnSpc>
              <a:buNone/>
            </a:pPr>
            <a:r>
              <a:rPr lang="en-US" sz="950" dirty="0">
                <a:solidFill>
                  <a:srgbClr val="5E7B7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검색·랭킹, 인용 강제 생성, 근거 검증 에이전트, 평가 하네스</a:t>
            </a:r>
            <a:endParaRPr lang="en-US" sz="950" dirty="0"/>
          </a:p>
        </p:txBody>
      </p:sp>
      <p:sp>
        <p:nvSpPr>
          <p:cNvPr id="27" name="Text 25"/>
          <p:cNvSpPr/>
          <p:nvPr/>
        </p:nvSpPr>
        <p:spPr>
          <a:xfrm>
            <a:off x="6309360" y="3273552"/>
            <a:ext cx="12801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02809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</a:t>
            </a:r>
            <a:endParaRPr lang="en-US" sz="1500" dirty="0"/>
          </a:p>
        </p:txBody>
      </p:sp>
      <p:sp>
        <p:nvSpPr>
          <p:cNvPr id="28" name="Text 26"/>
          <p:cNvSpPr/>
          <p:nvPr/>
        </p:nvSpPr>
        <p:spPr>
          <a:xfrm>
            <a:off x="7680960" y="3273552"/>
            <a:ext cx="12801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629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</a:t>
            </a:r>
            <a:endParaRPr lang="en-US" sz="1500" dirty="0"/>
          </a:p>
        </p:txBody>
      </p:sp>
      <p:sp>
        <p:nvSpPr>
          <p:cNvPr id="29" name="Text 27"/>
          <p:cNvSpPr/>
          <p:nvPr/>
        </p:nvSpPr>
        <p:spPr>
          <a:xfrm>
            <a:off x="9052560" y="3273552"/>
            <a:ext cx="12801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629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8</a:t>
            </a:r>
            <a:endParaRPr lang="en-US" sz="1500" dirty="0"/>
          </a:p>
        </p:txBody>
      </p:sp>
      <p:sp>
        <p:nvSpPr>
          <p:cNvPr id="30" name="Shape 28"/>
          <p:cNvSpPr/>
          <p:nvPr/>
        </p:nvSpPr>
        <p:spPr>
          <a:xfrm>
            <a:off x="566928" y="3931920"/>
            <a:ext cx="11073384" cy="566928"/>
          </a:xfrm>
          <a:prstGeom prst="roundRect">
            <a:avLst>
              <a:gd name="adj" fmla="val 12903"/>
            </a:avLst>
          </a:prstGeom>
          <a:solidFill>
            <a:srgbClr val="F6FAFA"/>
          </a:solidFill>
          <a:ln w="12700">
            <a:solidFill>
              <a:srgbClr val="F6FAFA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1" name="Shape 29"/>
          <p:cNvSpPr/>
          <p:nvPr/>
        </p:nvSpPr>
        <p:spPr>
          <a:xfrm>
            <a:off x="786384" y="4123944"/>
            <a:ext cx="182880" cy="182880"/>
          </a:xfrm>
          <a:prstGeom prst="ellipse">
            <a:avLst/>
          </a:prstGeom>
          <a:solidFill>
            <a:srgbClr val="C98A2E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2" name="Text 30"/>
          <p:cNvSpPr/>
          <p:nvPr/>
        </p:nvSpPr>
        <p:spPr>
          <a:xfrm>
            <a:off x="1078992" y="3931920"/>
            <a:ext cx="22860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629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제품 / 프론트엔드</a:t>
            </a:r>
            <a:endParaRPr lang="en-US" sz="1200" dirty="0"/>
          </a:p>
        </p:txBody>
      </p:sp>
      <p:sp>
        <p:nvSpPr>
          <p:cNvPr id="33" name="Text 31"/>
          <p:cNvSpPr/>
          <p:nvPr/>
        </p:nvSpPr>
        <p:spPr>
          <a:xfrm>
            <a:off x="3200400" y="3931920"/>
            <a:ext cx="30175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300"/>
              </a:lnSpc>
              <a:buNone/>
            </a:pPr>
            <a:r>
              <a:rPr lang="en-US" sz="950" dirty="0">
                <a:solidFill>
                  <a:srgbClr val="5E7B7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워크벤치 UX, 알림·티켓 연동, 멀티테넌트 포털</a:t>
            </a:r>
            <a:endParaRPr lang="en-US" sz="950" dirty="0"/>
          </a:p>
        </p:txBody>
      </p:sp>
      <p:sp>
        <p:nvSpPr>
          <p:cNvPr id="34" name="Text 32"/>
          <p:cNvSpPr/>
          <p:nvPr/>
        </p:nvSpPr>
        <p:spPr>
          <a:xfrm>
            <a:off x="6309360" y="3931920"/>
            <a:ext cx="12801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02809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</a:t>
            </a:r>
            <a:endParaRPr lang="en-US" sz="1500" dirty="0"/>
          </a:p>
        </p:txBody>
      </p:sp>
      <p:sp>
        <p:nvSpPr>
          <p:cNvPr id="35" name="Text 33"/>
          <p:cNvSpPr/>
          <p:nvPr/>
        </p:nvSpPr>
        <p:spPr>
          <a:xfrm>
            <a:off x="7680960" y="3931920"/>
            <a:ext cx="12801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629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</a:t>
            </a:r>
            <a:endParaRPr lang="en-US" sz="1500" dirty="0"/>
          </a:p>
        </p:txBody>
      </p:sp>
      <p:sp>
        <p:nvSpPr>
          <p:cNvPr id="36" name="Text 34"/>
          <p:cNvSpPr/>
          <p:nvPr/>
        </p:nvSpPr>
        <p:spPr>
          <a:xfrm>
            <a:off x="9052560" y="3931920"/>
            <a:ext cx="12801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629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6</a:t>
            </a:r>
            <a:endParaRPr lang="en-US" sz="1500" dirty="0"/>
          </a:p>
        </p:txBody>
      </p:sp>
      <p:sp>
        <p:nvSpPr>
          <p:cNvPr id="37" name="Shape 35"/>
          <p:cNvSpPr/>
          <p:nvPr/>
        </p:nvSpPr>
        <p:spPr>
          <a:xfrm>
            <a:off x="566928" y="4590288"/>
            <a:ext cx="11073384" cy="566928"/>
          </a:xfrm>
          <a:prstGeom prst="roundRect">
            <a:avLst>
              <a:gd name="adj" fmla="val 12903"/>
            </a:avLst>
          </a:prstGeom>
          <a:solidFill>
            <a:srgbClr val="EDF5F5"/>
          </a:solidFill>
          <a:ln w="12700">
            <a:solidFill>
              <a:srgbClr val="EDF5F5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8" name="Shape 36"/>
          <p:cNvSpPr/>
          <p:nvPr/>
        </p:nvSpPr>
        <p:spPr>
          <a:xfrm>
            <a:off x="786384" y="4782312"/>
            <a:ext cx="182880" cy="182880"/>
          </a:xfrm>
          <a:prstGeom prst="ellipse">
            <a:avLst/>
          </a:prstGeom>
          <a:solidFill>
            <a:srgbClr val="C2553F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9" name="Text 37"/>
          <p:cNvSpPr/>
          <p:nvPr/>
        </p:nvSpPr>
        <p:spPr>
          <a:xfrm>
            <a:off x="1078992" y="4590288"/>
            <a:ext cx="22860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629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보안 / 컴플라이언스</a:t>
            </a:r>
            <a:endParaRPr lang="en-US" sz="1200" dirty="0"/>
          </a:p>
        </p:txBody>
      </p:sp>
      <p:sp>
        <p:nvSpPr>
          <p:cNvPr id="40" name="Text 38"/>
          <p:cNvSpPr/>
          <p:nvPr/>
        </p:nvSpPr>
        <p:spPr>
          <a:xfrm>
            <a:off x="3200400" y="4590288"/>
            <a:ext cx="30175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300"/>
              </a:lnSpc>
              <a:buNone/>
            </a:pPr>
            <a:r>
              <a:rPr lang="en-US" sz="950" dirty="0">
                <a:solidFill>
                  <a:srgbClr val="5E7B7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Part 11 대응, SOC 2, 데이터 레지던시, 고객 실사 대응</a:t>
            </a:r>
            <a:endParaRPr lang="en-US" sz="950" dirty="0"/>
          </a:p>
        </p:txBody>
      </p:sp>
      <p:sp>
        <p:nvSpPr>
          <p:cNvPr id="41" name="Text 39"/>
          <p:cNvSpPr/>
          <p:nvPr/>
        </p:nvSpPr>
        <p:spPr>
          <a:xfrm>
            <a:off x="6309360" y="4590288"/>
            <a:ext cx="12801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02809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0.5</a:t>
            </a:r>
            <a:endParaRPr lang="en-US" sz="1500" dirty="0"/>
          </a:p>
        </p:txBody>
      </p:sp>
      <p:sp>
        <p:nvSpPr>
          <p:cNvPr id="42" name="Text 40"/>
          <p:cNvSpPr/>
          <p:nvPr/>
        </p:nvSpPr>
        <p:spPr>
          <a:xfrm>
            <a:off x="7680960" y="4590288"/>
            <a:ext cx="12801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629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</a:t>
            </a:r>
            <a:endParaRPr lang="en-US" sz="1500" dirty="0"/>
          </a:p>
        </p:txBody>
      </p:sp>
      <p:sp>
        <p:nvSpPr>
          <p:cNvPr id="43" name="Text 41"/>
          <p:cNvSpPr/>
          <p:nvPr/>
        </p:nvSpPr>
        <p:spPr>
          <a:xfrm>
            <a:off x="9052560" y="4590288"/>
            <a:ext cx="12801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629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</a:t>
            </a:r>
            <a:endParaRPr lang="en-US" sz="1500" dirty="0"/>
          </a:p>
        </p:txBody>
      </p:sp>
      <p:sp>
        <p:nvSpPr>
          <p:cNvPr id="44" name="Shape 42"/>
          <p:cNvSpPr/>
          <p:nvPr/>
        </p:nvSpPr>
        <p:spPr>
          <a:xfrm>
            <a:off x="566928" y="5248656"/>
            <a:ext cx="11073384" cy="566928"/>
          </a:xfrm>
          <a:prstGeom prst="roundRect">
            <a:avLst>
              <a:gd name="adj" fmla="val 12903"/>
            </a:avLst>
          </a:prstGeom>
          <a:solidFill>
            <a:srgbClr val="0C2E30"/>
          </a:solidFill>
          <a:ln w="12700">
            <a:solidFill>
              <a:srgbClr val="0C2E3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5" name="Text 43"/>
          <p:cNvSpPr/>
          <p:nvPr/>
        </p:nvSpPr>
        <p:spPr>
          <a:xfrm>
            <a:off x="1078992" y="5248656"/>
            <a:ext cx="22860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합계 (FTE)</a:t>
            </a:r>
            <a:endParaRPr lang="en-US" sz="1200" dirty="0"/>
          </a:p>
        </p:txBody>
      </p:sp>
      <p:sp>
        <p:nvSpPr>
          <p:cNvPr id="46" name="Text 44"/>
          <p:cNvSpPr/>
          <p:nvPr/>
        </p:nvSpPr>
        <p:spPr>
          <a:xfrm>
            <a:off x="6309360" y="5248656"/>
            <a:ext cx="12801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2C39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6.5</a:t>
            </a:r>
            <a:endParaRPr lang="en-US" sz="1600" dirty="0"/>
          </a:p>
        </p:txBody>
      </p:sp>
      <p:sp>
        <p:nvSpPr>
          <p:cNvPr id="47" name="Text 45"/>
          <p:cNvSpPr/>
          <p:nvPr/>
        </p:nvSpPr>
        <p:spPr>
          <a:xfrm>
            <a:off x="7680960" y="5248656"/>
            <a:ext cx="12801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2C39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15</a:t>
            </a:r>
            <a:endParaRPr lang="en-US" sz="1600" dirty="0"/>
          </a:p>
        </p:txBody>
      </p:sp>
      <p:sp>
        <p:nvSpPr>
          <p:cNvPr id="48" name="Text 46"/>
          <p:cNvSpPr/>
          <p:nvPr/>
        </p:nvSpPr>
        <p:spPr>
          <a:xfrm>
            <a:off x="9052560" y="5248656"/>
            <a:ext cx="12801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2C39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30</a:t>
            </a:r>
            <a:endParaRPr lang="en-US" sz="1600" dirty="0"/>
          </a:p>
        </p:txBody>
      </p:sp>
      <p:sp>
        <p:nvSpPr>
          <p:cNvPr id="49" name="Text 47"/>
          <p:cNvSpPr/>
          <p:nvPr/>
        </p:nvSpPr>
        <p:spPr>
          <a:xfrm>
            <a:off x="566928" y="5943600"/>
            <a:ext cx="1107338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5E7B7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전제: Phase 1은 전원 내부 인력 재배치 또는 겸직으로 시작 가능. 규제 도메인 인력은 사내 RA 조직에서 파견하고, Phase 3의 보안·컴플라이언스는 외부 컨설팅과 병행</a:t>
            </a:r>
            <a:endParaRPr lang="en-US" sz="1050" dirty="0"/>
          </a:p>
        </p:txBody>
      </p:sp>
      <p:sp>
        <p:nvSpPr>
          <p:cNvPr id="50" name="Text 48"/>
          <p:cNvSpPr/>
          <p:nvPr/>
        </p:nvSpPr>
        <p:spPr>
          <a:xfrm>
            <a:off x="11430000" y="6382512"/>
            <a:ext cx="365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E7B7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13</a:t>
            </a:r>
            <a:endParaRPr lang="en-US" sz="10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29184"/>
            <a:ext cx="10515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02809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INVESTMENT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21792"/>
            <a:ext cx="106070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629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24개월 누적 약 78억 원, 단계별 승인 집행</a:t>
            </a:r>
            <a:endParaRPr lang="en-US" sz="3000" dirty="0"/>
          </a:p>
        </p:txBody>
      </p:sp>
      <p:graphicFrame>
        <p:nvGraphicFramePr>
          <p:cNvPr id="4" name="Chart 0"/>
          <p:cNvGraphicFramePr/>
          <p:nvPr/>
        </p:nvGraphicFramePr>
        <p:xfrm>
          <a:off x="566928" y="1554480"/>
          <a:ext cx="6492240" cy="393192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5" name="Shape 2"/>
          <p:cNvSpPr/>
          <p:nvPr/>
        </p:nvSpPr>
        <p:spPr>
          <a:xfrm>
            <a:off x="7315200" y="1609344"/>
            <a:ext cx="4325112" cy="859536"/>
          </a:xfrm>
          <a:prstGeom prst="roundRect">
            <a:avLst>
              <a:gd name="adj" fmla="val 8511"/>
            </a:avLst>
          </a:prstGeom>
          <a:solidFill>
            <a:srgbClr val="E2EFEF"/>
          </a:solidFill>
          <a:ln w="12700">
            <a:solidFill>
              <a:srgbClr val="E2EFEF"/>
            </a:solidFill>
            <a:prstDash val="solid"/>
          </a:ln>
          <a:effectLst>
            <a:outerShdw blurRad="127000" dist="25400" dir="5400000" algn="bl" rotWithShape="0">
              <a:srgbClr val="0C2E30">
                <a:alpha val="12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6" name="Text 3"/>
          <p:cNvSpPr/>
          <p:nvPr/>
        </p:nvSpPr>
        <p:spPr>
          <a:xfrm>
            <a:off x="7534656" y="1682496"/>
            <a:ext cx="14630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5E7B7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Phase 1</a:t>
            </a:r>
            <a:endParaRPr lang="en-US" sz="1100" dirty="0"/>
          </a:p>
        </p:txBody>
      </p:sp>
      <p:sp>
        <p:nvSpPr>
          <p:cNvPr id="7" name="Text 4"/>
          <p:cNvSpPr/>
          <p:nvPr/>
        </p:nvSpPr>
        <p:spPr>
          <a:xfrm>
            <a:off x="8869680" y="1645920"/>
            <a:ext cx="2560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2200" b="1" dirty="0">
                <a:solidFill>
                  <a:srgbClr val="02809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4.5억</a:t>
            </a:r>
            <a:endParaRPr lang="en-US" sz="2200" dirty="0"/>
          </a:p>
        </p:txBody>
      </p:sp>
      <p:sp>
        <p:nvSpPr>
          <p:cNvPr id="8" name="Text 5"/>
          <p:cNvSpPr/>
          <p:nvPr/>
        </p:nvSpPr>
        <p:spPr>
          <a:xfrm>
            <a:off x="7534656" y="2048256"/>
            <a:ext cx="38862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E7B7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PoC — 오늘 승인 요청 대상</a:t>
            </a:r>
            <a:endParaRPr lang="en-US" sz="1000" dirty="0"/>
          </a:p>
        </p:txBody>
      </p:sp>
      <p:sp>
        <p:nvSpPr>
          <p:cNvPr id="9" name="Shape 6"/>
          <p:cNvSpPr/>
          <p:nvPr/>
        </p:nvSpPr>
        <p:spPr>
          <a:xfrm>
            <a:off x="7315200" y="2578608"/>
            <a:ext cx="4325112" cy="859536"/>
          </a:xfrm>
          <a:prstGeom prst="roundRect">
            <a:avLst>
              <a:gd name="adj" fmla="val 8511"/>
            </a:avLst>
          </a:prstGeom>
          <a:solidFill>
            <a:srgbClr val="EDF5F5"/>
          </a:solidFill>
          <a:ln w="12700">
            <a:solidFill>
              <a:srgbClr val="EDF5F5"/>
            </a:solidFill>
            <a:prstDash val="solid"/>
          </a:ln>
          <a:effectLst>
            <a:outerShdw blurRad="127000" dist="25400" dir="5400000" algn="bl" rotWithShape="0">
              <a:srgbClr val="0C2E30">
                <a:alpha val="12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10" name="Text 7"/>
          <p:cNvSpPr/>
          <p:nvPr/>
        </p:nvSpPr>
        <p:spPr>
          <a:xfrm>
            <a:off x="7534656" y="2651760"/>
            <a:ext cx="14630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5E7B7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Phase 2</a:t>
            </a:r>
            <a:endParaRPr lang="en-US" sz="1100" dirty="0"/>
          </a:p>
        </p:txBody>
      </p:sp>
      <p:sp>
        <p:nvSpPr>
          <p:cNvPr id="11" name="Text 8"/>
          <p:cNvSpPr/>
          <p:nvPr/>
        </p:nvSpPr>
        <p:spPr>
          <a:xfrm>
            <a:off x="8869680" y="2615184"/>
            <a:ext cx="2560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2200" b="1" dirty="0">
                <a:solidFill>
                  <a:srgbClr val="00A89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18.3억</a:t>
            </a:r>
            <a:endParaRPr lang="en-US" sz="2200" dirty="0"/>
          </a:p>
        </p:txBody>
      </p:sp>
      <p:sp>
        <p:nvSpPr>
          <p:cNvPr id="12" name="Text 9"/>
          <p:cNvSpPr/>
          <p:nvPr/>
        </p:nvSpPr>
        <p:spPr>
          <a:xfrm>
            <a:off x="7534656" y="3017520"/>
            <a:ext cx="38862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E7B7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Go 판정 시 집행</a:t>
            </a:r>
            <a:endParaRPr lang="en-US" sz="1000" dirty="0"/>
          </a:p>
        </p:txBody>
      </p:sp>
      <p:sp>
        <p:nvSpPr>
          <p:cNvPr id="13" name="Shape 10"/>
          <p:cNvSpPr/>
          <p:nvPr/>
        </p:nvSpPr>
        <p:spPr>
          <a:xfrm>
            <a:off x="7315200" y="3547872"/>
            <a:ext cx="4325112" cy="859536"/>
          </a:xfrm>
          <a:prstGeom prst="roundRect">
            <a:avLst>
              <a:gd name="adj" fmla="val 8511"/>
            </a:avLst>
          </a:prstGeom>
          <a:solidFill>
            <a:srgbClr val="EDF5F5"/>
          </a:solidFill>
          <a:ln w="12700">
            <a:solidFill>
              <a:srgbClr val="EDF5F5"/>
            </a:solidFill>
            <a:prstDash val="solid"/>
          </a:ln>
          <a:effectLst>
            <a:outerShdw blurRad="127000" dist="25400" dir="5400000" algn="bl" rotWithShape="0">
              <a:srgbClr val="0C2E30">
                <a:alpha val="12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14" name="Text 11"/>
          <p:cNvSpPr/>
          <p:nvPr/>
        </p:nvSpPr>
        <p:spPr>
          <a:xfrm>
            <a:off x="7534656" y="3621024"/>
            <a:ext cx="14630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5E7B7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Phase 3</a:t>
            </a:r>
            <a:endParaRPr lang="en-US" sz="1100" dirty="0"/>
          </a:p>
        </p:txBody>
      </p:sp>
      <p:sp>
        <p:nvSpPr>
          <p:cNvPr id="15" name="Text 12"/>
          <p:cNvSpPr/>
          <p:nvPr/>
        </p:nvSpPr>
        <p:spPr>
          <a:xfrm>
            <a:off x="8869680" y="3584448"/>
            <a:ext cx="2560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2200" b="1" dirty="0">
                <a:solidFill>
                  <a:srgbClr val="C98A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55.0억</a:t>
            </a:r>
            <a:endParaRPr lang="en-US" sz="2200" dirty="0"/>
          </a:p>
        </p:txBody>
      </p:sp>
      <p:sp>
        <p:nvSpPr>
          <p:cNvPr id="16" name="Text 13"/>
          <p:cNvSpPr/>
          <p:nvPr/>
        </p:nvSpPr>
        <p:spPr>
          <a:xfrm>
            <a:off x="7534656" y="3986784"/>
            <a:ext cx="38862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E7B7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내부 ROI 실측 후 별도 승인</a:t>
            </a:r>
            <a:endParaRPr lang="en-US" sz="1000" dirty="0"/>
          </a:p>
        </p:txBody>
      </p:sp>
      <p:sp>
        <p:nvSpPr>
          <p:cNvPr id="17" name="Shape 14"/>
          <p:cNvSpPr/>
          <p:nvPr/>
        </p:nvSpPr>
        <p:spPr>
          <a:xfrm>
            <a:off x="7315200" y="4590288"/>
            <a:ext cx="4325112" cy="896112"/>
          </a:xfrm>
          <a:prstGeom prst="roundRect">
            <a:avLst>
              <a:gd name="adj" fmla="val 8163"/>
            </a:avLst>
          </a:prstGeom>
          <a:solidFill>
            <a:srgbClr val="0C2E30"/>
          </a:solidFill>
          <a:ln w="12700">
            <a:solidFill>
              <a:srgbClr val="0C2E3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8" name="Text 15"/>
          <p:cNvSpPr/>
          <p:nvPr/>
        </p:nvSpPr>
        <p:spPr>
          <a:xfrm>
            <a:off x="7534656" y="4700016"/>
            <a:ext cx="20116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9FC6C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24개월 누적</a:t>
            </a:r>
            <a:endParaRPr lang="en-US" sz="1100" dirty="0"/>
          </a:p>
        </p:txBody>
      </p:sp>
      <p:sp>
        <p:nvSpPr>
          <p:cNvPr id="19" name="Text 16"/>
          <p:cNvSpPr/>
          <p:nvPr/>
        </p:nvSpPr>
        <p:spPr>
          <a:xfrm>
            <a:off x="7534656" y="4992624"/>
            <a:ext cx="38862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약 77.8억 원</a:t>
            </a:r>
            <a:endParaRPr lang="en-US" sz="2400" dirty="0"/>
          </a:p>
        </p:txBody>
      </p:sp>
      <p:sp>
        <p:nvSpPr>
          <p:cNvPr id="20" name="Text 17"/>
          <p:cNvSpPr/>
          <p:nvPr/>
        </p:nvSpPr>
        <p:spPr>
          <a:xfrm>
            <a:off x="566928" y="5705856"/>
            <a:ext cx="11073384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400"/>
              </a:lnSpc>
              <a:buNone/>
            </a:pPr>
            <a:r>
              <a:rPr lang="en-US" sz="1000" dirty="0">
                <a:solidFill>
                  <a:srgbClr val="5E7B7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산정 전제: 인력 1인당 부담 포함 월 1,200만 원, Phase 3의 GTM·SOC 2 인증·밸리데이션 컨설팅 포함. 표준·약전 라이선스는 필요 시 별도 집행(Tier D 원문은 수집하지 않으므로 열람용 최소 구매)</a:t>
            </a:r>
            <a:endParaRPr lang="en-US" sz="1000" dirty="0"/>
          </a:p>
        </p:txBody>
      </p:sp>
      <p:sp>
        <p:nvSpPr>
          <p:cNvPr id="21" name="Text 18"/>
          <p:cNvSpPr/>
          <p:nvPr/>
        </p:nvSpPr>
        <p:spPr>
          <a:xfrm>
            <a:off x="11430000" y="6382512"/>
            <a:ext cx="365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E7B7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14</a:t>
            </a:r>
            <a:endParaRPr lang="en-US" sz="10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29184"/>
            <a:ext cx="10515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02809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SUCCESS METRICS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21792"/>
            <a:ext cx="106070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629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단계별로 측정 대상이 바뀐다 — 정확도 → 업무효과 → 사업성과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66928" y="1517904"/>
            <a:ext cx="3538728" cy="3803904"/>
          </a:xfrm>
          <a:prstGeom prst="roundRect">
            <a:avLst>
              <a:gd name="adj" fmla="val 2067"/>
            </a:avLst>
          </a:prstGeom>
          <a:solidFill>
            <a:srgbClr val="EDF5F5"/>
          </a:solidFill>
          <a:ln w="12700">
            <a:solidFill>
              <a:srgbClr val="EDF5F5"/>
            </a:solidFill>
            <a:prstDash val="solid"/>
          </a:ln>
          <a:effectLst>
            <a:outerShdw blurRad="127000" dist="25400" dir="5400000" algn="bl" rotWithShape="0">
              <a:srgbClr val="0C2E30">
                <a:alpha val="12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5" name="Shape 3"/>
          <p:cNvSpPr/>
          <p:nvPr/>
        </p:nvSpPr>
        <p:spPr>
          <a:xfrm>
            <a:off x="566928" y="1517904"/>
            <a:ext cx="3538728" cy="731520"/>
          </a:xfrm>
          <a:prstGeom prst="roundRect">
            <a:avLst>
              <a:gd name="adj" fmla="val 10000"/>
            </a:avLst>
          </a:prstGeom>
          <a:solidFill>
            <a:srgbClr val="028090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" name="Text 4"/>
          <p:cNvSpPr/>
          <p:nvPr/>
        </p:nvSpPr>
        <p:spPr>
          <a:xfrm>
            <a:off x="786384" y="1591056"/>
            <a:ext cx="3108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100" dirty="0">
                <a:solidFill>
                  <a:srgbClr val="E8F6F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Phase 1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786384" y="1828800"/>
            <a:ext cx="3108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기술 신뢰도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786384" y="2395728"/>
            <a:ext cx="21031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629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탐지 커버리지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2395728" y="2395728"/>
            <a:ext cx="151790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50" b="1" dirty="0">
                <a:solidFill>
                  <a:srgbClr val="02809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≥ 95%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786384" y="2852928"/>
            <a:ext cx="3127248" cy="0"/>
          </a:xfrm>
          <a:prstGeom prst="line">
            <a:avLst/>
          </a:prstGeom>
          <a:noFill/>
          <a:ln w="12700">
            <a:solidFill>
              <a:srgbClr val="D6E6E6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1" name="Text 9"/>
          <p:cNvSpPr/>
          <p:nvPr/>
        </p:nvSpPr>
        <p:spPr>
          <a:xfrm>
            <a:off x="786384" y="2962656"/>
            <a:ext cx="21031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629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탐지 지연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2395728" y="2962656"/>
            <a:ext cx="151790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50" b="1" dirty="0">
                <a:solidFill>
                  <a:srgbClr val="02809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≤ 24시간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786384" y="3419856"/>
            <a:ext cx="3127248" cy="0"/>
          </a:xfrm>
          <a:prstGeom prst="line">
            <a:avLst/>
          </a:prstGeom>
          <a:noFill/>
          <a:ln w="12700">
            <a:solidFill>
              <a:srgbClr val="D6E6E6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4" name="Text 12"/>
          <p:cNvSpPr/>
          <p:nvPr/>
        </p:nvSpPr>
        <p:spPr>
          <a:xfrm>
            <a:off x="786384" y="3529584"/>
            <a:ext cx="21031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629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인용 정확도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2395728" y="3529584"/>
            <a:ext cx="151790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50" b="1" dirty="0">
                <a:solidFill>
                  <a:srgbClr val="02809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≥ 90%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786384" y="3986784"/>
            <a:ext cx="3127248" cy="0"/>
          </a:xfrm>
          <a:prstGeom prst="line">
            <a:avLst/>
          </a:prstGeom>
          <a:noFill/>
          <a:ln w="12700">
            <a:solidFill>
              <a:srgbClr val="D6E6E6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7" name="Text 15"/>
          <p:cNvSpPr/>
          <p:nvPr/>
        </p:nvSpPr>
        <p:spPr>
          <a:xfrm>
            <a:off x="786384" y="4096512"/>
            <a:ext cx="21031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629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환각률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2395728" y="4096512"/>
            <a:ext cx="151790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50" b="1" dirty="0">
                <a:solidFill>
                  <a:srgbClr val="02809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≤ 2%</a:t>
            </a:r>
            <a:endParaRPr lang="en-US" sz="1250" dirty="0"/>
          </a:p>
        </p:txBody>
      </p:sp>
      <p:sp>
        <p:nvSpPr>
          <p:cNvPr id="19" name="Shape 17"/>
          <p:cNvSpPr/>
          <p:nvPr/>
        </p:nvSpPr>
        <p:spPr>
          <a:xfrm>
            <a:off x="786384" y="4553712"/>
            <a:ext cx="3127248" cy="0"/>
          </a:xfrm>
          <a:prstGeom prst="line">
            <a:avLst/>
          </a:prstGeom>
          <a:noFill/>
          <a:ln w="12700">
            <a:solidFill>
              <a:srgbClr val="D6E6E6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0" name="Text 18"/>
          <p:cNvSpPr/>
          <p:nvPr/>
        </p:nvSpPr>
        <p:spPr>
          <a:xfrm>
            <a:off x="786384" y="4663440"/>
            <a:ext cx="21031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629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파일럿 정착률</a:t>
            </a:r>
            <a:endParaRPr lang="en-US" sz="1050" dirty="0"/>
          </a:p>
        </p:txBody>
      </p:sp>
      <p:sp>
        <p:nvSpPr>
          <p:cNvPr id="21" name="Text 19"/>
          <p:cNvSpPr/>
          <p:nvPr/>
        </p:nvSpPr>
        <p:spPr>
          <a:xfrm>
            <a:off x="2395728" y="4663440"/>
            <a:ext cx="151790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50" b="1" dirty="0">
                <a:solidFill>
                  <a:srgbClr val="02809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≥ 60%</a:t>
            </a:r>
            <a:endParaRPr lang="en-US" sz="1250" dirty="0"/>
          </a:p>
        </p:txBody>
      </p:sp>
      <p:sp>
        <p:nvSpPr>
          <p:cNvPr id="22" name="Shape 20"/>
          <p:cNvSpPr/>
          <p:nvPr/>
        </p:nvSpPr>
        <p:spPr>
          <a:xfrm>
            <a:off x="4306824" y="1517904"/>
            <a:ext cx="3538728" cy="3803904"/>
          </a:xfrm>
          <a:prstGeom prst="roundRect">
            <a:avLst>
              <a:gd name="adj" fmla="val 2067"/>
            </a:avLst>
          </a:prstGeom>
          <a:solidFill>
            <a:srgbClr val="EDF5F5"/>
          </a:solidFill>
          <a:ln w="12700">
            <a:solidFill>
              <a:srgbClr val="EDF5F5"/>
            </a:solidFill>
            <a:prstDash val="solid"/>
          </a:ln>
          <a:effectLst>
            <a:outerShdw blurRad="127000" dist="25400" dir="5400000" algn="bl" rotWithShape="0">
              <a:srgbClr val="0C2E30">
                <a:alpha val="12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23" name="Shape 21"/>
          <p:cNvSpPr/>
          <p:nvPr/>
        </p:nvSpPr>
        <p:spPr>
          <a:xfrm>
            <a:off x="4306824" y="1517904"/>
            <a:ext cx="3538728" cy="731520"/>
          </a:xfrm>
          <a:prstGeom prst="roundRect">
            <a:avLst>
              <a:gd name="adj" fmla="val 10000"/>
            </a:avLst>
          </a:prstGeom>
          <a:solidFill>
            <a:srgbClr val="00A896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4" name="Text 22"/>
          <p:cNvSpPr/>
          <p:nvPr/>
        </p:nvSpPr>
        <p:spPr>
          <a:xfrm>
            <a:off x="4526280" y="1591056"/>
            <a:ext cx="3108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100" dirty="0">
                <a:solidFill>
                  <a:srgbClr val="E8F6F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Phase 2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4526280" y="1828800"/>
            <a:ext cx="3108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업무 효과</a:t>
            </a:r>
            <a:endParaRPr lang="en-US" sz="1700" dirty="0"/>
          </a:p>
        </p:txBody>
      </p:sp>
      <p:sp>
        <p:nvSpPr>
          <p:cNvPr id="26" name="Text 24"/>
          <p:cNvSpPr/>
          <p:nvPr/>
        </p:nvSpPr>
        <p:spPr>
          <a:xfrm>
            <a:off x="4526280" y="2395728"/>
            <a:ext cx="21031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629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규제 조사 시간</a:t>
            </a:r>
            <a:endParaRPr lang="en-US" sz="1050" dirty="0"/>
          </a:p>
        </p:txBody>
      </p:sp>
      <p:sp>
        <p:nvSpPr>
          <p:cNvPr id="27" name="Text 25"/>
          <p:cNvSpPr/>
          <p:nvPr/>
        </p:nvSpPr>
        <p:spPr>
          <a:xfrm>
            <a:off x="6135624" y="2395728"/>
            <a:ext cx="151790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50" b="1" dirty="0">
                <a:solidFill>
                  <a:srgbClr val="00A89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40% 감축</a:t>
            </a:r>
            <a:endParaRPr lang="en-US" sz="1250" dirty="0"/>
          </a:p>
        </p:txBody>
      </p:sp>
      <p:sp>
        <p:nvSpPr>
          <p:cNvPr id="28" name="Shape 26"/>
          <p:cNvSpPr/>
          <p:nvPr/>
        </p:nvSpPr>
        <p:spPr>
          <a:xfrm>
            <a:off x="4526280" y="2852928"/>
            <a:ext cx="3127248" cy="0"/>
          </a:xfrm>
          <a:prstGeom prst="line">
            <a:avLst/>
          </a:prstGeom>
          <a:noFill/>
          <a:ln w="12700">
            <a:solidFill>
              <a:srgbClr val="D6E6E6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9" name="Text 27"/>
          <p:cNvSpPr/>
          <p:nvPr/>
        </p:nvSpPr>
        <p:spPr>
          <a:xfrm>
            <a:off x="4526280" y="2962656"/>
            <a:ext cx="21031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629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갭 분석 리드타임</a:t>
            </a:r>
            <a:endParaRPr lang="en-US" sz="1050" dirty="0"/>
          </a:p>
        </p:txBody>
      </p:sp>
      <p:sp>
        <p:nvSpPr>
          <p:cNvPr id="30" name="Text 28"/>
          <p:cNvSpPr/>
          <p:nvPr/>
        </p:nvSpPr>
        <p:spPr>
          <a:xfrm>
            <a:off x="6135624" y="2962656"/>
            <a:ext cx="151790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50" b="1" dirty="0">
                <a:solidFill>
                  <a:srgbClr val="00A89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50% 단축</a:t>
            </a:r>
            <a:endParaRPr lang="en-US" sz="1250" dirty="0"/>
          </a:p>
        </p:txBody>
      </p:sp>
      <p:sp>
        <p:nvSpPr>
          <p:cNvPr id="31" name="Shape 29"/>
          <p:cNvSpPr/>
          <p:nvPr/>
        </p:nvSpPr>
        <p:spPr>
          <a:xfrm>
            <a:off x="4526280" y="3419856"/>
            <a:ext cx="3127248" cy="0"/>
          </a:xfrm>
          <a:prstGeom prst="line">
            <a:avLst/>
          </a:prstGeom>
          <a:noFill/>
          <a:ln w="12700">
            <a:solidFill>
              <a:srgbClr val="D6E6E6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2" name="Text 30"/>
          <p:cNvSpPr/>
          <p:nvPr/>
        </p:nvSpPr>
        <p:spPr>
          <a:xfrm>
            <a:off x="4526280" y="3529584"/>
            <a:ext cx="21031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629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개정 영향분석 누락</a:t>
            </a:r>
            <a:endParaRPr lang="en-US" sz="1050" dirty="0"/>
          </a:p>
        </p:txBody>
      </p:sp>
      <p:sp>
        <p:nvSpPr>
          <p:cNvPr id="33" name="Text 31"/>
          <p:cNvSpPr/>
          <p:nvPr/>
        </p:nvSpPr>
        <p:spPr>
          <a:xfrm>
            <a:off x="6135624" y="3529584"/>
            <a:ext cx="151790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50" b="1" dirty="0">
                <a:solidFill>
                  <a:srgbClr val="00A89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0건</a:t>
            </a:r>
            <a:endParaRPr lang="en-US" sz="1250" dirty="0"/>
          </a:p>
        </p:txBody>
      </p:sp>
      <p:sp>
        <p:nvSpPr>
          <p:cNvPr id="34" name="Shape 32"/>
          <p:cNvSpPr/>
          <p:nvPr/>
        </p:nvSpPr>
        <p:spPr>
          <a:xfrm>
            <a:off x="4526280" y="3986784"/>
            <a:ext cx="3127248" cy="0"/>
          </a:xfrm>
          <a:prstGeom prst="line">
            <a:avLst/>
          </a:prstGeom>
          <a:noFill/>
          <a:ln w="12700">
            <a:solidFill>
              <a:srgbClr val="D6E6E6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5" name="Text 33"/>
          <p:cNvSpPr/>
          <p:nvPr/>
        </p:nvSpPr>
        <p:spPr>
          <a:xfrm>
            <a:off x="4526280" y="4096512"/>
            <a:ext cx="21031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629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월간 활성 사용자</a:t>
            </a:r>
            <a:endParaRPr lang="en-US" sz="1050" dirty="0"/>
          </a:p>
        </p:txBody>
      </p:sp>
      <p:sp>
        <p:nvSpPr>
          <p:cNvPr id="36" name="Text 34"/>
          <p:cNvSpPr/>
          <p:nvPr/>
        </p:nvSpPr>
        <p:spPr>
          <a:xfrm>
            <a:off x="6135624" y="4096512"/>
            <a:ext cx="151790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50" b="1" dirty="0">
                <a:solidFill>
                  <a:srgbClr val="00A89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300명+</a:t>
            </a:r>
            <a:endParaRPr lang="en-US" sz="1250" dirty="0"/>
          </a:p>
        </p:txBody>
      </p:sp>
      <p:sp>
        <p:nvSpPr>
          <p:cNvPr id="37" name="Shape 35"/>
          <p:cNvSpPr/>
          <p:nvPr/>
        </p:nvSpPr>
        <p:spPr>
          <a:xfrm>
            <a:off x="4526280" y="4553712"/>
            <a:ext cx="3127248" cy="0"/>
          </a:xfrm>
          <a:prstGeom prst="line">
            <a:avLst/>
          </a:prstGeom>
          <a:noFill/>
          <a:ln w="12700">
            <a:solidFill>
              <a:srgbClr val="D6E6E6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8" name="Text 36"/>
          <p:cNvSpPr/>
          <p:nvPr/>
        </p:nvSpPr>
        <p:spPr>
          <a:xfrm>
            <a:off x="4526280" y="4663440"/>
            <a:ext cx="21031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629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커버 규제기관</a:t>
            </a:r>
            <a:endParaRPr lang="en-US" sz="1050" dirty="0"/>
          </a:p>
        </p:txBody>
      </p:sp>
      <p:sp>
        <p:nvSpPr>
          <p:cNvPr id="39" name="Text 37"/>
          <p:cNvSpPr/>
          <p:nvPr/>
        </p:nvSpPr>
        <p:spPr>
          <a:xfrm>
            <a:off x="6135624" y="4663440"/>
            <a:ext cx="151790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50" b="1" dirty="0">
                <a:solidFill>
                  <a:srgbClr val="00A89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6개국+</a:t>
            </a:r>
            <a:endParaRPr lang="en-US" sz="1250" dirty="0"/>
          </a:p>
        </p:txBody>
      </p:sp>
      <p:sp>
        <p:nvSpPr>
          <p:cNvPr id="40" name="Shape 38"/>
          <p:cNvSpPr/>
          <p:nvPr/>
        </p:nvSpPr>
        <p:spPr>
          <a:xfrm>
            <a:off x="8046720" y="1517904"/>
            <a:ext cx="3538728" cy="3803904"/>
          </a:xfrm>
          <a:prstGeom prst="roundRect">
            <a:avLst>
              <a:gd name="adj" fmla="val 2067"/>
            </a:avLst>
          </a:prstGeom>
          <a:solidFill>
            <a:srgbClr val="EDF5F5"/>
          </a:solidFill>
          <a:ln w="12700">
            <a:solidFill>
              <a:srgbClr val="EDF5F5"/>
            </a:solidFill>
            <a:prstDash val="solid"/>
          </a:ln>
          <a:effectLst>
            <a:outerShdw blurRad="127000" dist="25400" dir="5400000" algn="bl" rotWithShape="0">
              <a:srgbClr val="0C2E30">
                <a:alpha val="12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41" name="Shape 39"/>
          <p:cNvSpPr/>
          <p:nvPr/>
        </p:nvSpPr>
        <p:spPr>
          <a:xfrm>
            <a:off x="8046720" y="1517904"/>
            <a:ext cx="3538728" cy="731520"/>
          </a:xfrm>
          <a:prstGeom prst="roundRect">
            <a:avLst>
              <a:gd name="adj" fmla="val 10000"/>
            </a:avLst>
          </a:prstGeom>
          <a:solidFill>
            <a:srgbClr val="C2553F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2" name="Text 40"/>
          <p:cNvSpPr/>
          <p:nvPr/>
        </p:nvSpPr>
        <p:spPr>
          <a:xfrm>
            <a:off x="8266176" y="1591056"/>
            <a:ext cx="3108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100" dirty="0">
                <a:solidFill>
                  <a:srgbClr val="E8F6F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Phase 3</a:t>
            </a:r>
            <a:endParaRPr lang="en-US" sz="1000" dirty="0"/>
          </a:p>
        </p:txBody>
      </p:sp>
      <p:sp>
        <p:nvSpPr>
          <p:cNvPr id="43" name="Text 41"/>
          <p:cNvSpPr/>
          <p:nvPr/>
        </p:nvSpPr>
        <p:spPr>
          <a:xfrm>
            <a:off x="8266176" y="1828800"/>
            <a:ext cx="3108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사업 성과</a:t>
            </a:r>
            <a:endParaRPr lang="en-US" sz="1700" dirty="0"/>
          </a:p>
        </p:txBody>
      </p:sp>
      <p:sp>
        <p:nvSpPr>
          <p:cNvPr id="44" name="Text 42"/>
          <p:cNvSpPr/>
          <p:nvPr/>
        </p:nvSpPr>
        <p:spPr>
          <a:xfrm>
            <a:off x="8266176" y="2395728"/>
            <a:ext cx="21031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629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유료 고객사</a:t>
            </a:r>
            <a:endParaRPr lang="en-US" sz="1050" dirty="0"/>
          </a:p>
        </p:txBody>
      </p:sp>
      <p:sp>
        <p:nvSpPr>
          <p:cNvPr id="45" name="Text 43"/>
          <p:cNvSpPr/>
          <p:nvPr/>
        </p:nvSpPr>
        <p:spPr>
          <a:xfrm>
            <a:off x="9875520" y="2395728"/>
            <a:ext cx="151790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50" b="1" dirty="0">
                <a:solidFill>
                  <a:srgbClr val="C2553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8개사+</a:t>
            </a:r>
            <a:endParaRPr lang="en-US" sz="1250" dirty="0"/>
          </a:p>
        </p:txBody>
      </p:sp>
      <p:sp>
        <p:nvSpPr>
          <p:cNvPr id="46" name="Shape 44"/>
          <p:cNvSpPr/>
          <p:nvPr/>
        </p:nvSpPr>
        <p:spPr>
          <a:xfrm>
            <a:off x="8266176" y="2852928"/>
            <a:ext cx="3127248" cy="0"/>
          </a:xfrm>
          <a:prstGeom prst="line">
            <a:avLst/>
          </a:prstGeom>
          <a:noFill/>
          <a:ln w="12700">
            <a:solidFill>
              <a:srgbClr val="D6E6E6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7" name="Text 45"/>
          <p:cNvSpPr/>
          <p:nvPr/>
        </p:nvSpPr>
        <p:spPr>
          <a:xfrm>
            <a:off x="8266176" y="2962656"/>
            <a:ext cx="21031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629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연간 반복매출(ARR)</a:t>
            </a:r>
            <a:endParaRPr lang="en-US" sz="1050" dirty="0"/>
          </a:p>
        </p:txBody>
      </p:sp>
      <p:sp>
        <p:nvSpPr>
          <p:cNvPr id="48" name="Text 46"/>
          <p:cNvSpPr/>
          <p:nvPr/>
        </p:nvSpPr>
        <p:spPr>
          <a:xfrm>
            <a:off x="9875520" y="2962656"/>
            <a:ext cx="151790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50" b="1" dirty="0">
                <a:solidFill>
                  <a:srgbClr val="C2553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20억 원+</a:t>
            </a:r>
            <a:endParaRPr lang="en-US" sz="1250" dirty="0"/>
          </a:p>
        </p:txBody>
      </p:sp>
      <p:sp>
        <p:nvSpPr>
          <p:cNvPr id="49" name="Shape 47"/>
          <p:cNvSpPr/>
          <p:nvPr/>
        </p:nvSpPr>
        <p:spPr>
          <a:xfrm>
            <a:off x="8266176" y="3419856"/>
            <a:ext cx="3127248" cy="0"/>
          </a:xfrm>
          <a:prstGeom prst="line">
            <a:avLst/>
          </a:prstGeom>
          <a:noFill/>
          <a:ln w="12700">
            <a:solidFill>
              <a:srgbClr val="D6E6E6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0" name="Text 48"/>
          <p:cNvSpPr/>
          <p:nvPr/>
        </p:nvSpPr>
        <p:spPr>
          <a:xfrm>
            <a:off x="8266176" y="3529584"/>
            <a:ext cx="21031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629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순매출유지율(NRR)</a:t>
            </a:r>
            <a:endParaRPr lang="en-US" sz="1050" dirty="0"/>
          </a:p>
        </p:txBody>
      </p:sp>
      <p:sp>
        <p:nvSpPr>
          <p:cNvPr id="51" name="Text 49"/>
          <p:cNvSpPr/>
          <p:nvPr/>
        </p:nvSpPr>
        <p:spPr>
          <a:xfrm>
            <a:off x="9875520" y="3529584"/>
            <a:ext cx="151790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50" b="1" dirty="0">
                <a:solidFill>
                  <a:srgbClr val="C2553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≥ 110%</a:t>
            </a:r>
            <a:endParaRPr lang="en-US" sz="1250" dirty="0"/>
          </a:p>
        </p:txBody>
      </p:sp>
      <p:sp>
        <p:nvSpPr>
          <p:cNvPr id="52" name="Shape 50"/>
          <p:cNvSpPr/>
          <p:nvPr/>
        </p:nvSpPr>
        <p:spPr>
          <a:xfrm>
            <a:off x="8266176" y="3986784"/>
            <a:ext cx="3127248" cy="0"/>
          </a:xfrm>
          <a:prstGeom prst="line">
            <a:avLst/>
          </a:prstGeom>
          <a:noFill/>
          <a:ln w="12700">
            <a:solidFill>
              <a:srgbClr val="D6E6E6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3" name="Text 51"/>
          <p:cNvSpPr/>
          <p:nvPr/>
        </p:nvSpPr>
        <p:spPr>
          <a:xfrm>
            <a:off x="8266176" y="4096512"/>
            <a:ext cx="21031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629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밸리데이션 실사 통과</a:t>
            </a:r>
            <a:endParaRPr lang="en-US" sz="1050" dirty="0"/>
          </a:p>
        </p:txBody>
      </p:sp>
      <p:sp>
        <p:nvSpPr>
          <p:cNvPr id="54" name="Text 52"/>
          <p:cNvSpPr/>
          <p:nvPr/>
        </p:nvSpPr>
        <p:spPr>
          <a:xfrm>
            <a:off x="9875520" y="4096512"/>
            <a:ext cx="151790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50" b="1" dirty="0">
                <a:solidFill>
                  <a:srgbClr val="C2553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100%</a:t>
            </a:r>
            <a:endParaRPr lang="en-US" sz="1250" dirty="0"/>
          </a:p>
        </p:txBody>
      </p:sp>
      <p:sp>
        <p:nvSpPr>
          <p:cNvPr id="55" name="Shape 53"/>
          <p:cNvSpPr/>
          <p:nvPr/>
        </p:nvSpPr>
        <p:spPr>
          <a:xfrm>
            <a:off x="8266176" y="4553712"/>
            <a:ext cx="3127248" cy="0"/>
          </a:xfrm>
          <a:prstGeom prst="line">
            <a:avLst/>
          </a:prstGeom>
          <a:noFill/>
          <a:ln w="12700">
            <a:solidFill>
              <a:srgbClr val="D6E6E6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6" name="Text 54"/>
          <p:cNvSpPr/>
          <p:nvPr/>
        </p:nvSpPr>
        <p:spPr>
          <a:xfrm>
            <a:off x="8266176" y="4663440"/>
            <a:ext cx="21031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629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파트너 채널 비중</a:t>
            </a:r>
            <a:endParaRPr lang="en-US" sz="1050" dirty="0"/>
          </a:p>
        </p:txBody>
      </p:sp>
      <p:sp>
        <p:nvSpPr>
          <p:cNvPr id="57" name="Text 55"/>
          <p:cNvSpPr/>
          <p:nvPr/>
        </p:nvSpPr>
        <p:spPr>
          <a:xfrm>
            <a:off x="9875520" y="4663440"/>
            <a:ext cx="151790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50" b="1" dirty="0">
                <a:solidFill>
                  <a:srgbClr val="C2553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30%+</a:t>
            </a:r>
            <a:endParaRPr lang="en-US" sz="1250" dirty="0"/>
          </a:p>
        </p:txBody>
      </p:sp>
      <p:sp>
        <p:nvSpPr>
          <p:cNvPr id="58" name="Shape 56"/>
          <p:cNvSpPr/>
          <p:nvPr/>
        </p:nvSpPr>
        <p:spPr>
          <a:xfrm>
            <a:off x="566928" y="5468112"/>
            <a:ext cx="11073384" cy="713232"/>
          </a:xfrm>
          <a:prstGeom prst="roundRect">
            <a:avLst>
              <a:gd name="adj" fmla="val 10256"/>
            </a:avLst>
          </a:prstGeom>
          <a:solidFill>
            <a:srgbClr val="0C2E30"/>
          </a:solidFill>
          <a:ln w="12700">
            <a:solidFill>
              <a:srgbClr val="0C2E3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9" name="Text 57"/>
          <p:cNvSpPr/>
          <p:nvPr/>
        </p:nvSpPr>
        <p:spPr>
          <a:xfrm>
            <a:off x="804672" y="5522976"/>
            <a:ext cx="106070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참고 벤치마크: 라이프사이언스 경영진의 78%가 AI가 조직에 큰 변화를 줄 것으로 응답했으나, 전사 확산에 성공한 곳은 22%, 유의미한 투자수익을 확인한 곳은 9%에 불과</a:t>
            </a:r>
            <a:endParaRPr lang="en-US" sz="1100" dirty="0"/>
          </a:p>
        </p:txBody>
      </p:sp>
      <p:sp>
        <p:nvSpPr>
          <p:cNvPr id="60" name="Text 58"/>
          <p:cNvSpPr/>
          <p:nvPr/>
        </p:nvSpPr>
        <p:spPr>
          <a:xfrm>
            <a:off x="804672" y="5833872"/>
            <a:ext cx="10607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A8CFD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→ 본 계획의 게이트 구조는 이 22%/9% 구간에 들어가기 위한 장치다</a:t>
            </a:r>
            <a:endParaRPr lang="en-US" sz="1050" dirty="0"/>
          </a:p>
        </p:txBody>
      </p:sp>
      <p:sp>
        <p:nvSpPr>
          <p:cNvPr id="61" name="Text 59"/>
          <p:cNvSpPr/>
          <p:nvPr/>
        </p:nvSpPr>
        <p:spPr>
          <a:xfrm>
            <a:off x="566928" y="6382512"/>
            <a:ext cx="11064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E7B7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출처: Deloitte 2026 Life Sciences Executive Outlook (C-level 280명, 2025년 8~9월 조사). Phase 2·3 목표치는 내부 설정 값</a:t>
            </a:r>
            <a:endParaRPr lang="en-US" sz="900" dirty="0"/>
          </a:p>
        </p:txBody>
      </p:sp>
      <p:sp>
        <p:nvSpPr>
          <p:cNvPr id="62" name="Text 60"/>
          <p:cNvSpPr/>
          <p:nvPr/>
        </p:nvSpPr>
        <p:spPr>
          <a:xfrm>
            <a:off x="11430000" y="6382512"/>
            <a:ext cx="365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E7B7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15</a:t>
            </a:r>
            <a:endParaRPr lang="en-US" sz="10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29184"/>
            <a:ext cx="10515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02809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RISK &amp; MITIGATION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21792"/>
            <a:ext cx="106070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629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주요 리스크 6가지와 대응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66928" y="1517904"/>
            <a:ext cx="5468112" cy="1426464"/>
          </a:xfrm>
          <a:prstGeom prst="roundRect">
            <a:avLst>
              <a:gd name="adj" fmla="val 5128"/>
            </a:avLst>
          </a:prstGeom>
          <a:solidFill>
            <a:srgbClr val="EDF5F5"/>
          </a:solidFill>
          <a:ln w="12700">
            <a:solidFill>
              <a:srgbClr val="EDF5F5"/>
            </a:solidFill>
            <a:prstDash val="solid"/>
          </a:ln>
          <a:effectLst>
            <a:outerShdw blurRad="127000" dist="25400" dir="5400000" algn="bl" rotWithShape="0">
              <a:srgbClr val="0C2E30">
                <a:alpha val="12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5" name="Text 3"/>
          <p:cNvSpPr/>
          <p:nvPr/>
        </p:nvSpPr>
        <p:spPr>
          <a:xfrm>
            <a:off x="786384" y="1627632"/>
            <a:ext cx="37490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629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저작권 침해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4773168" y="1645920"/>
            <a:ext cx="1005840" cy="274320"/>
          </a:xfrm>
          <a:prstGeom prst="roundRect">
            <a:avLst>
              <a:gd name="adj" fmla="val 50000"/>
            </a:avLst>
          </a:prstGeom>
          <a:solidFill>
            <a:srgbClr val="C2553F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7" name="Text 5"/>
          <p:cNvSpPr/>
          <p:nvPr/>
        </p:nvSpPr>
        <p:spPr>
          <a:xfrm>
            <a:off x="4773168" y="1645920"/>
            <a:ext cx="1005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높음</a:t>
            </a:r>
            <a:endParaRPr lang="en-US" sz="950" dirty="0"/>
          </a:p>
        </p:txBody>
      </p:sp>
      <p:sp>
        <p:nvSpPr>
          <p:cNvPr id="8" name="Text 6"/>
          <p:cNvSpPr/>
          <p:nvPr/>
        </p:nvSpPr>
        <p:spPr>
          <a:xfrm>
            <a:off x="786384" y="1956816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E7B7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ISO 표준·약전은 AI 학습 및 원문 저장 금지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786384" y="2249424"/>
            <a:ext cx="502920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400"/>
              </a:lnSpc>
              <a:buNone/>
            </a:pPr>
            <a:r>
              <a:rPr lang="en-US" sz="1000" b="1" dirty="0">
                <a:solidFill>
                  <a:srgbClr val="C2553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대응  </a:t>
            </a:r>
            <a:r>
              <a:rPr lang="en-US" sz="1000" dirty="0">
                <a:solidFill>
                  <a:srgbClr val="1629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Tier D 원문 미수집 원칙을 아키텍처와 계약서에 명시. 메타데이터·개정이력·정품 딥링크만 제공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6172200" y="1517904"/>
            <a:ext cx="5468112" cy="1426464"/>
          </a:xfrm>
          <a:prstGeom prst="roundRect">
            <a:avLst>
              <a:gd name="adj" fmla="val 5128"/>
            </a:avLst>
          </a:prstGeom>
          <a:solidFill>
            <a:srgbClr val="EDF5F5"/>
          </a:solidFill>
          <a:ln w="12700">
            <a:solidFill>
              <a:srgbClr val="EDF5F5"/>
            </a:solidFill>
            <a:prstDash val="solid"/>
          </a:ln>
          <a:effectLst>
            <a:outerShdw blurRad="127000" dist="25400" dir="5400000" algn="bl" rotWithShape="0">
              <a:srgbClr val="0C2E30">
                <a:alpha val="12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11" name="Text 9"/>
          <p:cNvSpPr/>
          <p:nvPr/>
        </p:nvSpPr>
        <p:spPr>
          <a:xfrm>
            <a:off x="6391656" y="1627632"/>
            <a:ext cx="37490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629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AI 환각으로 인한 오판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10378440" y="1645920"/>
            <a:ext cx="1005840" cy="274320"/>
          </a:xfrm>
          <a:prstGeom prst="roundRect">
            <a:avLst>
              <a:gd name="adj" fmla="val 50000"/>
            </a:avLst>
          </a:prstGeom>
          <a:solidFill>
            <a:srgbClr val="C2553F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3" name="Text 11"/>
          <p:cNvSpPr/>
          <p:nvPr/>
        </p:nvSpPr>
        <p:spPr>
          <a:xfrm>
            <a:off x="10378440" y="1645920"/>
            <a:ext cx="1005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높음</a:t>
            </a: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6391656" y="1956816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E7B7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잘못된 규제 해석이 허가 지연·비준수로 직결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6391656" y="2249424"/>
            <a:ext cx="502920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400"/>
              </a:lnSpc>
              <a:buNone/>
            </a:pPr>
            <a:r>
              <a:rPr lang="en-US" sz="1000" b="1" dirty="0">
                <a:solidFill>
                  <a:srgbClr val="C2553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대응  </a:t>
            </a:r>
            <a:r>
              <a:rPr lang="en-US" sz="1000" dirty="0">
                <a:solidFill>
                  <a:srgbClr val="1629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인용 강제 + 근거 검증 에이전트 + 신뢰도 임계값 미만 사람 검토. 최종 판단 책임은 사람에게 있음을 UI에 명시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566928" y="3090672"/>
            <a:ext cx="5468112" cy="1426464"/>
          </a:xfrm>
          <a:prstGeom prst="roundRect">
            <a:avLst>
              <a:gd name="adj" fmla="val 5128"/>
            </a:avLst>
          </a:prstGeom>
          <a:solidFill>
            <a:srgbClr val="EDF5F5"/>
          </a:solidFill>
          <a:ln w="12700">
            <a:solidFill>
              <a:srgbClr val="EDF5F5"/>
            </a:solidFill>
            <a:prstDash val="solid"/>
          </a:ln>
          <a:effectLst>
            <a:outerShdw blurRad="127000" dist="25400" dir="5400000" algn="bl" rotWithShape="0">
              <a:srgbClr val="0C2E30">
                <a:alpha val="12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17" name="Text 15"/>
          <p:cNvSpPr/>
          <p:nvPr/>
        </p:nvSpPr>
        <p:spPr>
          <a:xfrm>
            <a:off x="786384" y="3200400"/>
            <a:ext cx="37490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629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스크래핑 파이프라인 취약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4773168" y="3218688"/>
            <a:ext cx="1005840" cy="274320"/>
          </a:xfrm>
          <a:prstGeom prst="roundRect">
            <a:avLst>
              <a:gd name="adj" fmla="val 50000"/>
            </a:avLst>
          </a:prstGeom>
          <a:solidFill>
            <a:srgbClr val="C98A2E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9" name="Text 17"/>
          <p:cNvSpPr/>
          <p:nvPr/>
        </p:nvSpPr>
        <p:spPr>
          <a:xfrm>
            <a:off x="4773168" y="3218688"/>
            <a:ext cx="1005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중간</a:t>
            </a:r>
            <a:endParaRPr lang="en-US" sz="950" dirty="0"/>
          </a:p>
        </p:txBody>
      </p:sp>
      <p:sp>
        <p:nvSpPr>
          <p:cNvPr id="20" name="Text 18"/>
          <p:cNvSpPr/>
          <p:nvPr/>
        </p:nvSpPr>
        <p:spPr>
          <a:xfrm>
            <a:off x="786384" y="3529584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E7B7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PMDA·NMPA·EUDAMED 등 공식 API 부재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786384" y="3822192"/>
            <a:ext cx="502920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400"/>
              </a:lnSpc>
              <a:buNone/>
            </a:pPr>
            <a:r>
              <a:rPr lang="en-US" sz="1000" b="1" dirty="0">
                <a:solidFill>
                  <a:srgbClr val="C98A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대응  </a:t>
            </a:r>
            <a:r>
              <a:rPr lang="en-US" sz="1000" dirty="0">
                <a:solidFill>
                  <a:srgbClr val="1629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Phase 1은 API 소스만 사용. Tier C는 Phase 2에서 구조변경 감지·알림·수동 폴백 체계와 함께 도입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6172200" y="3090672"/>
            <a:ext cx="5468112" cy="1426464"/>
          </a:xfrm>
          <a:prstGeom prst="roundRect">
            <a:avLst>
              <a:gd name="adj" fmla="val 5128"/>
            </a:avLst>
          </a:prstGeom>
          <a:solidFill>
            <a:srgbClr val="EDF5F5"/>
          </a:solidFill>
          <a:ln w="12700">
            <a:solidFill>
              <a:srgbClr val="EDF5F5"/>
            </a:solidFill>
            <a:prstDash val="solid"/>
          </a:ln>
          <a:effectLst>
            <a:outerShdw blurRad="127000" dist="25400" dir="5400000" algn="bl" rotWithShape="0">
              <a:srgbClr val="0C2E30">
                <a:alpha val="12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23" name="Text 21"/>
          <p:cNvSpPr/>
          <p:nvPr/>
        </p:nvSpPr>
        <p:spPr>
          <a:xfrm>
            <a:off x="6391656" y="3200400"/>
            <a:ext cx="37490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629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Veeva 등 스위트 번들 경쟁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10378440" y="3218688"/>
            <a:ext cx="1005840" cy="274320"/>
          </a:xfrm>
          <a:prstGeom prst="roundRect">
            <a:avLst>
              <a:gd name="adj" fmla="val 50000"/>
            </a:avLst>
          </a:prstGeom>
          <a:solidFill>
            <a:srgbClr val="C98A2E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5" name="Text 23"/>
          <p:cNvSpPr/>
          <p:nvPr/>
        </p:nvSpPr>
        <p:spPr>
          <a:xfrm>
            <a:off x="10378440" y="3218688"/>
            <a:ext cx="1005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중간</a:t>
            </a:r>
            <a:endParaRPr lang="en-US" sz="950" dirty="0"/>
          </a:p>
        </p:txBody>
      </p:sp>
      <p:sp>
        <p:nvSpPr>
          <p:cNvPr id="26" name="Text 24"/>
          <p:cNvSpPr/>
          <p:nvPr/>
        </p:nvSpPr>
        <p:spPr>
          <a:xfrm>
            <a:off x="6391656" y="3529584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E7B7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기존 고객은 통합 편의로 번들을 선택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6391656" y="3822192"/>
            <a:ext cx="502920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400"/>
              </a:lnSpc>
              <a:buNone/>
            </a:pPr>
            <a:r>
              <a:rPr lang="en-US" sz="1000" b="1" dirty="0">
                <a:solidFill>
                  <a:srgbClr val="C98A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대응  </a:t>
            </a:r>
            <a:r>
              <a:rPr lang="en-US" sz="1000" dirty="0">
                <a:solidFill>
                  <a:srgbClr val="1629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정면 대체가 아닌 '변화 감지·영향 분석' 보완재로 진입 후, Veeva 에이전틱 기능 출시 전 레퍼런스 확보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566928" y="4663440"/>
            <a:ext cx="5468112" cy="1426464"/>
          </a:xfrm>
          <a:prstGeom prst="roundRect">
            <a:avLst>
              <a:gd name="adj" fmla="val 5128"/>
            </a:avLst>
          </a:prstGeom>
          <a:solidFill>
            <a:srgbClr val="EDF5F5"/>
          </a:solidFill>
          <a:ln w="12700">
            <a:solidFill>
              <a:srgbClr val="EDF5F5"/>
            </a:solidFill>
            <a:prstDash val="solid"/>
          </a:ln>
          <a:effectLst>
            <a:outerShdw blurRad="127000" dist="25400" dir="5400000" algn="bl" rotWithShape="0">
              <a:srgbClr val="0C2E30">
                <a:alpha val="12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29" name="Text 27"/>
          <p:cNvSpPr/>
          <p:nvPr/>
        </p:nvSpPr>
        <p:spPr>
          <a:xfrm>
            <a:off x="786384" y="4773168"/>
            <a:ext cx="37490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629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GxP 밸리데이션 비용 과소평가</a:t>
            </a:r>
            <a:endParaRPr lang="en-US" sz="1300" dirty="0"/>
          </a:p>
        </p:txBody>
      </p:sp>
      <p:sp>
        <p:nvSpPr>
          <p:cNvPr id="30" name="Shape 28"/>
          <p:cNvSpPr/>
          <p:nvPr/>
        </p:nvSpPr>
        <p:spPr>
          <a:xfrm>
            <a:off x="4773168" y="4791456"/>
            <a:ext cx="1005840" cy="274320"/>
          </a:xfrm>
          <a:prstGeom prst="roundRect">
            <a:avLst>
              <a:gd name="adj" fmla="val 50000"/>
            </a:avLst>
          </a:prstGeom>
          <a:solidFill>
            <a:srgbClr val="C98A2E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1" name="Text 29"/>
          <p:cNvSpPr/>
          <p:nvPr/>
        </p:nvSpPr>
        <p:spPr>
          <a:xfrm>
            <a:off x="4773168" y="4791456"/>
            <a:ext cx="1005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중간</a:t>
            </a:r>
            <a:endParaRPr lang="en-US" sz="950" dirty="0"/>
          </a:p>
        </p:txBody>
      </p:sp>
      <p:sp>
        <p:nvSpPr>
          <p:cNvPr id="32" name="Text 30"/>
          <p:cNvSpPr/>
          <p:nvPr/>
        </p:nvSpPr>
        <p:spPr>
          <a:xfrm>
            <a:off x="786384" y="5102352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E7B7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Part 11·품질계약·고객 실사 대응은 제품 이전의 조직 역량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786384" y="5394960"/>
            <a:ext cx="502920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400"/>
              </a:lnSpc>
              <a:buNone/>
            </a:pPr>
            <a:r>
              <a:rPr lang="en-US" sz="1000" b="1" dirty="0">
                <a:solidFill>
                  <a:srgbClr val="C98A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대응  </a:t>
            </a:r>
            <a:r>
              <a:rPr lang="en-US" sz="1000" dirty="0">
                <a:solidFill>
                  <a:srgbClr val="1629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Phase 2부터 품질 담당 인력 배치, Phase 3 예산에 인증·컨설팅 비용 선반영</a:t>
            </a:r>
            <a:endParaRPr lang="en-US" sz="1000" dirty="0"/>
          </a:p>
        </p:txBody>
      </p:sp>
      <p:sp>
        <p:nvSpPr>
          <p:cNvPr id="34" name="Shape 32"/>
          <p:cNvSpPr/>
          <p:nvPr/>
        </p:nvSpPr>
        <p:spPr>
          <a:xfrm>
            <a:off x="6172200" y="4663440"/>
            <a:ext cx="5468112" cy="1426464"/>
          </a:xfrm>
          <a:prstGeom prst="roundRect">
            <a:avLst>
              <a:gd name="adj" fmla="val 5128"/>
            </a:avLst>
          </a:prstGeom>
          <a:solidFill>
            <a:srgbClr val="EDF5F5"/>
          </a:solidFill>
          <a:ln w="12700">
            <a:solidFill>
              <a:srgbClr val="EDF5F5"/>
            </a:solidFill>
            <a:prstDash val="solid"/>
          </a:ln>
          <a:effectLst>
            <a:outerShdw blurRad="127000" dist="25400" dir="5400000" algn="bl" rotWithShape="0">
              <a:srgbClr val="0C2E30">
                <a:alpha val="12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35" name="Text 33"/>
          <p:cNvSpPr/>
          <p:nvPr/>
        </p:nvSpPr>
        <p:spPr>
          <a:xfrm>
            <a:off x="6391656" y="4773168"/>
            <a:ext cx="37490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629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자체 EU AI Act 적용 가능성</a:t>
            </a:r>
            <a:endParaRPr lang="en-US" sz="1300" dirty="0"/>
          </a:p>
        </p:txBody>
      </p:sp>
      <p:sp>
        <p:nvSpPr>
          <p:cNvPr id="36" name="Shape 34"/>
          <p:cNvSpPr/>
          <p:nvPr/>
        </p:nvSpPr>
        <p:spPr>
          <a:xfrm>
            <a:off x="10378440" y="4791456"/>
            <a:ext cx="1005840" cy="274320"/>
          </a:xfrm>
          <a:prstGeom prst="roundRect">
            <a:avLst>
              <a:gd name="adj" fmla="val 50000"/>
            </a:avLst>
          </a:prstGeom>
          <a:solidFill>
            <a:srgbClr val="028090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7" name="Text 35"/>
          <p:cNvSpPr/>
          <p:nvPr/>
        </p:nvSpPr>
        <p:spPr>
          <a:xfrm>
            <a:off x="10378440" y="4791456"/>
            <a:ext cx="1005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관찰</a:t>
            </a:r>
            <a:endParaRPr lang="en-US" sz="950" dirty="0"/>
          </a:p>
        </p:txBody>
      </p:sp>
      <p:sp>
        <p:nvSpPr>
          <p:cNvPr id="38" name="Text 36"/>
          <p:cNvSpPr/>
          <p:nvPr/>
        </p:nvSpPr>
        <p:spPr>
          <a:xfrm>
            <a:off x="6391656" y="5102352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E7B7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의료기기 내장형 AI는 2028.8.2 적용, 투명성 의무는 2026.8.2부터</a:t>
            </a:r>
            <a:endParaRPr lang="en-US" sz="1000" dirty="0"/>
          </a:p>
        </p:txBody>
      </p:sp>
      <p:sp>
        <p:nvSpPr>
          <p:cNvPr id="39" name="Text 37"/>
          <p:cNvSpPr/>
          <p:nvPr/>
        </p:nvSpPr>
        <p:spPr>
          <a:xfrm>
            <a:off x="6391656" y="5394960"/>
            <a:ext cx="502920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400"/>
              </a:lnSpc>
              <a:buNone/>
            </a:pPr>
            <a:r>
              <a:rPr lang="en-US" sz="1000" b="1" dirty="0">
                <a:solidFill>
                  <a:srgbClr val="02809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대응  </a:t>
            </a:r>
            <a:r>
              <a:rPr lang="en-US" sz="1000" dirty="0">
                <a:solidFill>
                  <a:srgbClr val="1629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제품 자체를 고위험 분류 대응 가능한 수준으로 문서화. 규제 대상이자 규제 대응 도구라는 이중 포지션을 마케팅 자산화</a:t>
            </a:r>
            <a:endParaRPr lang="en-US" sz="1000" dirty="0"/>
          </a:p>
        </p:txBody>
      </p:sp>
      <p:sp>
        <p:nvSpPr>
          <p:cNvPr id="40" name="Text 38"/>
          <p:cNvSpPr/>
          <p:nvPr/>
        </p:nvSpPr>
        <p:spPr>
          <a:xfrm>
            <a:off x="11430000" y="6382512"/>
            <a:ext cx="365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E7B7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16</a:t>
            </a:r>
            <a:endParaRPr lang="en-US" sz="10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0C2E3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326880" y="-1097280"/>
            <a:ext cx="4937760" cy="4937760"/>
          </a:xfrm>
          <a:prstGeom prst="ellipse">
            <a:avLst/>
          </a:prstGeom>
          <a:solidFill>
            <a:srgbClr val="028090">
              <a:alpha val="18000"/>
            </a:srgbClr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" name="Text 1"/>
          <p:cNvSpPr/>
          <p:nvPr/>
        </p:nvSpPr>
        <p:spPr>
          <a:xfrm>
            <a:off x="566928" y="329184"/>
            <a:ext cx="10515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02C39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DECISION REQUEST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48640" y="621792"/>
            <a:ext cx="106070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오늘 요청드리는 의사결정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566928" y="1572768"/>
            <a:ext cx="7772400" cy="841248"/>
          </a:xfrm>
          <a:prstGeom prst="roundRect">
            <a:avLst>
              <a:gd name="adj" fmla="val 8696"/>
            </a:avLst>
          </a:prstGeom>
          <a:solidFill>
            <a:srgbClr val="154244"/>
          </a:solidFill>
          <a:ln w="12700">
            <a:solidFill>
              <a:srgbClr val="2A5A5C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" name="Shape 4"/>
          <p:cNvSpPr/>
          <p:nvPr/>
        </p:nvSpPr>
        <p:spPr>
          <a:xfrm>
            <a:off x="822960" y="1792224"/>
            <a:ext cx="402336" cy="402336"/>
          </a:xfrm>
          <a:prstGeom prst="ellipse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7" name="Text 5"/>
          <p:cNvSpPr/>
          <p:nvPr/>
        </p:nvSpPr>
        <p:spPr>
          <a:xfrm>
            <a:off x="822960" y="1792224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C2E3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01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1389888" y="1682496"/>
            <a:ext cx="67665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Phase 1 PoC 착수 및 예산 4.5억 원 승인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1389888" y="2011680"/>
            <a:ext cx="6766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9FC6C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4개월, EU MDR + MFDS 의료기기 2개 규제영역 대상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566928" y="2542032"/>
            <a:ext cx="7772400" cy="841248"/>
          </a:xfrm>
          <a:prstGeom prst="roundRect">
            <a:avLst>
              <a:gd name="adj" fmla="val 8696"/>
            </a:avLst>
          </a:prstGeom>
          <a:solidFill>
            <a:srgbClr val="154244"/>
          </a:solidFill>
          <a:ln w="12700">
            <a:solidFill>
              <a:srgbClr val="2A5A5C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1" name="Shape 9"/>
          <p:cNvSpPr/>
          <p:nvPr/>
        </p:nvSpPr>
        <p:spPr>
          <a:xfrm>
            <a:off x="822960" y="2761488"/>
            <a:ext cx="402336" cy="402336"/>
          </a:xfrm>
          <a:prstGeom prst="ellipse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2" name="Text 10"/>
          <p:cNvSpPr/>
          <p:nvPr/>
        </p:nvSpPr>
        <p:spPr>
          <a:xfrm>
            <a:off x="822960" y="2761488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C2E3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02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1389888" y="2651760"/>
            <a:ext cx="67665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RA 조직에서 도메인 전문가 1명 전임 배치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1389888" y="2980944"/>
            <a:ext cx="6766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9FC6C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요건 구조화와 정확도 평가는 규제 전문가 없이는 불가능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566928" y="3511296"/>
            <a:ext cx="7772400" cy="841248"/>
          </a:xfrm>
          <a:prstGeom prst="roundRect">
            <a:avLst>
              <a:gd name="adj" fmla="val 8696"/>
            </a:avLst>
          </a:prstGeom>
          <a:solidFill>
            <a:srgbClr val="154244"/>
          </a:solidFill>
          <a:ln w="12700">
            <a:solidFill>
              <a:srgbClr val="2A5A5C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6" name="Shape 14"/>
          <p:cNvSpPr/>
          <p:nvPr/>
        </p:nvSpPr>
        <p:spPr>
          <a:xfrm>
            <a:off x="822960" y="3730752"/>
            <a:ext cx="402336" cy="402336"/>
          </a:xfrm>
          <a:prstGeom prst="ellipse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7" name="Text 15"/>
          <p:cNvSpPr/>
          <p:nvPr/>
        </p:nvSpPr>
        <p:spPr>
          <a:xfrm>
            <a:off x="822960" y="3730752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C2E3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03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1389888" y="3621024"/>
            <a:ext cx="67665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파일럿 사업부 1곳 지정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1389888" y="3950208"/>
            <a:ext cx="6766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9FC6C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실사용 20~30명 확보 — 정착률 지표 측정의 전제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566928" y="4480560"/>
            <a:ext cx="7772400" cy="841248"/>
          </a:xfrm>
          <a:prstGeom prst="roundRect">
            <a:avLst>
              <a:gd name="adj" fmla="val 8696"/>
            </a:avLst>
          </a:prstGeom>
          <a:solidFill>
            <a:srgbClr val="154244"/>
          </a:solidFill>
          <a:ln w="12700">
            <a:solidFill>
              <a:srgbClr val="2A5A5C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1" name="Shape 19"/>
          <p:cNvSpPr/>
          <p:nvPr/>
        </p:nvSpPr>
        <p:spPr>
          <a:xfrm>
            <a:off x="822960" y="4700016"/>
            <a:ext cx="402336" cy="402336"/>
          </a:xfrm>
          <a:prstGeom prst="ellipse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2" name="Text 20"/>
          <p:cNvSpPr/>
          <p:nvPr/>
        </p:nvSpPr>
        <p:spPr>
          <a:xfrm>
            <a:off x="822960" y="4700016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C2E3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04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1389888" y="4590288"/>
            <a:ext cx="67665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Go/No-Go 게이트 기준 사전 합의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1389888" y="4919472"/>
            <a:ext cx="6766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9FC6C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6개 정량 지표 중 4개 이상 미달 시 No-Go로 확정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8558784" y="1572768"/>
            <a:ext cx="3081528" cy="3877056"/>
          </a:xfrm>
          <a:prstGeom prst="roundRect">
            <a:avLst>
              <a:gd name="adj" fmla="val 2374"/>
            </a:avLst>
          </a:prstGeom>
          <a:solidFill>
            <a:srgbClr val="1B3E40"/>
          </a:solidFill>
          <a:ln w="12700">
            <a:solidFill>
              <a:srgbClr val="3E7274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6" name="Text 24"/>
          <p:cNvSpPr/>
          <p:nvPr/>
        </p:nvSpPr>
        <p:spPr>
          <a:xfrm>
            <a:off x="8796528" y="1719072"/>
            <a:ext cx="26517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100" dirty="0">
                <a:solidFill>
                  <a:srgbClr val="02C39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승인 시 다음 30일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8796528" y="2139696"/>
            <a:ext cx="2670048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ts val="1500"/>
              </a:lnSpc>
              <a:spcAft>
                <a:spcPts val="1100"/>
              </a:spcAft>
              <a:buSzPct val="100000"/>
              <a:buChar char="•"/>
            </a:pPr>
            <a:r>
              <a:rPr lang="en-US" sz="1050" dirty="0">
                <a:solidFill>
                  <a:srgbClr val="BFE3E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TF 구성 및 킥오프 (W1)</a:t>
            </a:r>
            <a:endParaRPr lang="en-US" sz="1050" dirty="0"/>
          </a:p>
          <a:p>
            <a:pPr marL="342900" indent="-342900">
              <a:lnSpc>
                <a:spcPts val="1500"/>
              </a:lnSpc>
              <a:spcAft>
                <a:spcPts val="1100"/>
              </a:spcAft>
              <a:buSzPct val="100000"/>
              <a:buChar char="•"/>
            </a:pPr>
            <a:r>
              <a:rPr lang="en-US" sz="1050" dirty="0">
                <a:solidFill>
                  <a:srgbClr val="BFE3E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데이터 소스 우선순위·법무 검토 완료 (W2)</a:t>
            </a:r>
            <a:endParaRPr lang="en-US" sz="1050" dirty="0"/>
          </a:p>
          <a:p>
            <a:pPr marL="342900" indent="-342900">
              <a:lnSpc>
                <a:spcPts val="1500"/>
              </a:lnSpc>
              <a:spcAft>
                <a:spcPts val="1100"/>
              </a:spcAft>
              <a:buSzPct val="100000"/>
              <a:buChar char="•"/>
            </a:pPr>
            <a:r>
              <a:rPr lang="en-US" sz="1050" dirty="0">
                <a:solidFill>
                  <a:srgbClr val="BFE3E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openFDA·국가법령정보 커넥터 1차 가동 (W3)</a:t>
            </a:r>
            <a:endParaRPr lang="en-US" sz="1050" dirty="0"/>
          </a:p>
          <a:p>
            <a:pPr marL="342900" indent="-342900">
              <a:lnSpc>
                <a:spcPts val="1500"/>
              </a:lnSpc>
              <a:spcAft>
                <a:spcPts val="1100"/>
              </a:spcAft>
              <a:buSzPct val="100000"/>
              <a:buChar char="•"/>
            </a:pPr>
            <a:r>
              <a:rPr lang="en-US" sz="1050" dirty="0">
                <a:solidFill>
                  <a:srgbClr val="BFE3E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파일럿 사용자 인터뷰 및 골든 질의셋 설계 착수 (W4)</a:t>
            </a:r>
            <a:endParaRPr lang="en-US" sz="1050" dirty="0"/>
          </a:p>
        </p:txBody>
      </p:sp>
      <p:sp>
        <p:nvSpPr>
          <p:cNvPr id="28" name="Text 26"/>
          <p:cNvSpPr/>
          <p:nvPr/>
        </p:nvSpPr>
        <p:spPr>
          <a:xfrm>
            <a:off x="8796528" y="4846320"/>
            <a:ext cx="267004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600"/>
              </a:lnSpc>
              <a:buNone/>
            </a:pPr>
            <a:r>
              <a:rPr lang="en-US" sz="11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첫 보고: 착수 후 8주 시점 중간 점검</a:t>
            </a:r>
            <a:endParaRPr lang="en-US" sz="1150" dirty="0"/>
          </a:p>
        </p:txBody>
      </p:sp>
      <p:sp>
        <p:nvSpPr>
          <p:cNvPr id="29" name="Text 27"/>
          <p:cNvSpPr/>
          <p:nvPr/>
        </p:nvSpPr>
        <p:spPr>
          <a:xfrm>
            <a:off x="566928" y="5760720"/>
            <a:ext cx="1107338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i="1" dirty="0">
                <a:solidFill>
                  <a:srgbClr val="02C39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규제는 예측 불가능한 변수가 아니라, 아직 구조화되지 않은 데이터다</a:t>
            </a:r>
            <a:endParaRPr lang="en-US" sz="1500" dirty="0"/>
          </a:p>
        </p:txBody>
      </p:sp>
      <p:sp>
        <p:nvSpPr>
          <p:cNvPr id="30" name="Text 28"/>
          <p:cNvSpPr/>
          <p:nvPr/>
        </p:nvSpPr>
        <p:spPr>
          <a:xfrm>
            <a:off x="11430000" y="6382512"/>
            <a:ext cx="365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E969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17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3376</Words>
  <Application>Microsoft Office PowerPoint</Application>
  <PresentationFormat>와이드스크린</PresentationFormat>
  <Paragraphs>443</Paragraphs>
  <Slides>17</Slides>
  <Notes>17</Notes>
  <HiddenSlides>0</HiddenSlides>
  <MMClips>0</MMClips>
  <ScaleCrop>false</ScaleCrop>
  <HeadingPairs>
    <vt:vector size="6" baseType="variant">
      <vt:variant>
        <vt:lpstr>사용한 글꼴</vt:lpstr>
      </vt:variant>
      <vt:variant>
        <vt:i4>2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17</vt:i4>
      </vt:variant>
    </vt:vector>
  </HeadingPairs>
  <TitlesOfParts>
    <vt:vector size="20" baseType="lpstr">
      <vt:lpstr>Malgun Gothic</vt:lpstr>
      <vt:lpstr>Arial</vt:lpstr>
      <vt:lpstr>Office Theme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다산업 규제 지식 플랫폼 구축 계획</dc:title>
  <dc:subject>PptxGenJS Presentation</dc:subject>
  <dc:creator>Regulation Knowledge Platform TF</dc:creator>
  <cp:lastModifiedBy>혜란 김</cp:lastModifiedBy>
  <cp:revision>1</cp:revision>
  <dcterms:created xsi:type="dcterms:W3CDTF">2026-07-28T05:36:07Z</dcterms:created>
  <dcterms:modified xsi:type="dcterms:W3CDTF">2026-07-28T05:51:21Z</dcterms:modified>
</cp:coreProperties>
</file>